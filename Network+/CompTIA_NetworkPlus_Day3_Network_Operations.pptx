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6" r:id="rId19"/>
    <p:sldId id="273" r:id="rId20"/>
    <p:sldId id="275" r:id="rId21"/>
    <p:sldId id="276" r:id="rId22"/>
    <p:sldId id="297" r:id="rId23"/>
    <p:sldId id="277" r:id="rId24"/>
    <p:sldId id="278" r:id="rId25"/>
    <p:sldId id="279" r:id="rId26"/>
    <p:sldId id="281" r:id="rId27"/>
    <p:sldId id="285" r:id="rId28"/>
    <p:sldId id="286" r:id="rId29"/>
    <p:sldId id="287" r:id="rId30"/>
    <p:sldId id="298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BA0DC1-F5ED-4EBD-A71B-9C44EE9FF009}" v="13" dt="2026-09-03T14:49:41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056" autoAdjust="0"/>
  </p:normalViewPr>
  <p:slideViewPr>
    <p:cSldViewPr snapToGrid="0" snapToObjects="1">
      <p:cViewPr varScale="1">
        <p:scale>
          <a:sx n="87" d="100"/>
          <a:sy n="87" d="100"/>
        </p:scale>
        <p:origin x="147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9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fo Desk" userId="ae29397e-aa92-4942-b8aa-5abb4bbe6b04" providerId="ADAL" clId="{C582BD9D-488B-425A-A8CB-82D43A2C2498}"/>
    <pc:docChg chg="undo custSel addSld delSld modSld">
      <pc:chgData name="Info Desk" userId="ae29397e-aa92-4942-b8aa-5abb4bbe6b04" providerId="ADAL" clId="{C582BD9D-488B-425A-A8CB-82D43A2C2498}" dt="2026-09-03T14:49:50.236" v="141" actId="20577"/>
      <pc:docMkLst>
        <pc:docMk/>
      </pc:docMkLst>
      <pc:sldChg chg="modNotesTx">
        <pc:chgData name="Info Desk" userId="ae29397e-aa92-4942-b8aa-5abb4bbe6b04" providerId="ADAL" clId="{C582BD9D-488B-425A-A8CB-82D43A2C2498}" dt="2026-09-03T13:30:15.201" v="5" actId="20577"/>
        <pc:sldMkLst>
          <pc:docMk/>
          <pc:sldMk cId="0" sldId="258"/>
        </pc:sldMkLst>
      </pc:sldChg>
      <pc:sldChg chg="modNotesTx">
        <pc:chgData name="Info Desk" userId="ae29397e-aa92-4942-b8aa-5abb4bbe6b04" providerId="ADAL" clId="{C582BD9D-488B-425A-A8CB-82D43A2C2498}" dt="2026-09-03T13:32:37.505" v="10" actId="20577"/>
        <pc:sldMkLst>
          <pc:docMk/>
          <pc:sldMk cId="0" sldId="259"/>
        </pc:sldMkLst>
      </pc:sldChg>
      <pc:sldChg chg="modNotesTx">
        <pc:chgData name="Info Desk" userId="ae29397e-aa92-4942-b8aa-5abb4bbe6b04" providerId="ADAL" clId="{C582BD9D-488B-425A-A8CB-82D43A2C2498}" dt="2026-09-03T13:35:55.344" v="13" actId="20577"/>
        <pc:sldMkLst>
          <pc:docMk/>
          <pc:sldMk cId="0" sldId="260"/>
        </pc:sldMkLst>
      </pc:sldChg>
      <pc:sldChg chg="modNotesTx">
        <pc:chgData name="Info Desk" userId="ae29397e-aa92-4942-b8aa-5abb4bbe6b04" providerId="ADAL" clId="{C582BD9D-488B-425A-A8CB-82D43A2C2498}" dt="2026-09-03T13:51:30.438" v="18" actId="20577"/>
        <pc:sldMkLst>
          <pc:docMk/>
          <pc:sldMk cId="0" sldId="262"/>
        </pc:sldMkLst>
      </pc:sldChg>
      <pc:sldChg chg="modNotesTx">
        <pc:chgData name="Info Desk" userId="ae29397e-aa92-4942-b8aa-5abb4bbe6b04" providerId="ADAL" clId="{C582BD9D-488B-425A-A8CB-82D43A2C2498}" dt="2026-09-03T13:53:06.272" v="26" actId="20577"/>
        <pc:sldMkLst>
          <pc:docMk/>
          <pc:sldMk cId="0" sldId="263"/>
        </pc:sldMkLst>
      </pc:sldChg>
      <pc:sldChg chg="modNotesTx">
        <pc:chgData name="Info Desk" userId="ae29397e-aa92-4942-b8aa-5abb4bbe6b04" providerId="ADAL" clId="{C582BD9D-488B-425A-A8CB-82D43A2C2498}" dt="2026-09-03T13:54:32.040" v="30" actId="20577"/>
        <pc:sldMkLst>
          <pc:docMk/>
          <pc:sldMk cId="0" sldId="264"/>
        </pc:sldMkLst>
      </pc:sldChg>
      <pc:sldChg chg="addSp delSp modSp mod">
        <pc:chgData name="Info Desk" userId="ae29397e-aa92-4942-b8aa-5abb4bbe6b04" providerId="ADAL" clId="{C582BD9D-488B-425A-A8CB-82D43A2C2498}" dt="2026-09-03T14:00:42.063" v="39" actId="207"/>
        <pc:sldMkLst>
          <pc:docMk/>
          <pc:sldMk cId="0" sldId="265"/>
        </pc:sldMkLst>
        <pc:spChg chg="mod">
          <ac:chgData name="Info Desk" userId="ae29397e-aa92-4942-b8aa-5abb4bbe6b04" providerId="ADAL" clId="{C582BD9D-488B-425A-A8CB-82D43A2C2498}" dt="2026-09-03T14:00:27.820" v="34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00:42.063" v="39" actId="207"/>
          <ac:spMkLst>
            <pc:docMk/>
            <pc:sldMk cId="0" sldId="265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00:22.509" v="31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00:22.509" v="31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00:22.509" v="31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00:22.509" v="31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00:22.509" v="31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00:22.509" v="31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00:22.509" v="31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00:22.509" v="31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00:22.509" v="31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00:22.509" v="31" actId="478"/>
          <ac:spMkLst>
            <pc:docMk/>
            <pc:sldMk cId="0" sldId="265"/>
            <ac:spMk id="15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00:25.908" v="33" actId="1076"/>
          <ac:picMkLst>
            <pc:docMk/>
            <pc:sldMk cId="0" sldId="265"/>
            <ac:picMk id="18" creationId="{214BEAFE-34B7-D012-C5B1-B5F76A6A60A0}"/>
          </ac:picMkLst>
        </pc:picChg>
      </pc:sldChg>
      <pc:sldChg chg="addSp modSp mod">
        <pc:chgData name="Info Desk" userId="ae29397e-aa92-4942-b8aa-5abb4bbe6b04" providerId="ADAL" clId="{C582BD9D-488B-425A-A8CB-82D43A2C2498}" dt="2026-09-03T14:03:15.355" v="47" actId="1076"/>
        <pc:sldMkLst>
          <pc:docMk/>
          <pc:sldMk cId="0" sldId="266"/>
        </pc:sldMkLst>
        <pc:spChg chg="mod">
          <ac:chgData name="Info Desk" userId="ae29397e-aa92-4942-b8aa-5abb4bbe6b04" providerId="ADAL" clId="{C582BD9D-488B-425A-A8CB-82D43A2C2498}" dt="2026-09-03T14:03:07.305" v="44" actId="1076"/>
          <ac:spMkLst>
            <pc:docMk/>
            <pc:sldMk cId="0" sldId="266"/>
            <ac:spMk id="3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03:15.355" v="47" actId="1076"/>
          <ac:picMkLst>
            <pc:docMk/>
            <pc:sldMk cId="0" sldId="266"/>
            <ac:picMk id="6" creationId="{53AE6231-3369-AA4F-09C7-83254DEBAC2E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06:49.441" v="54" actId="14100"/>
        <pc:sldMkLst>
          <pc:docMk/>
          <pc:sldMk cId="0" sldId="267"/>
        </pc:sldMkLst>
        <pc:spChg chg="del mod">
          <ac:chgData name="Info Desk" userId="ae29397e-aa92-4942-b8aa-5abb4bbe6b04" providerId="ADAL" clId="{C582BD9D-488B-425A-A8CB-82D43A2C2498}" dt="2026-09-03T14:06:43.823" v="52" actId="478"/>
          <ac:spMkLst>
            <pc:docMk/>
            <pc:sldMk cId="0" sldId="267"/>
            <ac:spMk id="3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4:06:43.823" v="52" actId="478"/>
          <ac:spMkLst>
            <pc:docMk/>
            <pc:sldMk cId="0" sldId="267"/>
            <ac:spMk id="4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4:06:43.823" v="52" actId="478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4:06:43.823" v="52" actId="478"/>
          <ac:spMkLst>
            <pc:docMk/>
            <pc:sldMk cId="0" sldId="267"/>
            <ac:spMk id="8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4:06:43.823" v="52" actId="478"/>
          <ac:spMkLst>
            <pc:docMk/>
            <pc:sldMk cId="0" sldId="267"/>
            <ac:spMk id="11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4:06:43.823" v="52" actId="478"/>
          <ac:spMkLst>
            <pc:docMk/>
            <pc:sldMk cId="0" sldId="267"/>
            <ac:spMk id="13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4:06:43.823" v="52" actId="478"/>
          <ac:spMkLst>
            <pc:docMk/>
            <pc:sldMk cId="0" sldId="267"/>
            <ac:spMk id="14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4:06:43.823" v="52" actId="478"/>
          <ac:spMkLst>
            <pc:docMk/>
            <pc:sldMk cId="0" sldId="267"/>
            <ac:spMk id="16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4:06:43.823" v="52" actId="478"/>
          <ac:spMkLst>
            <pc:docMk/>
            <pc:sldMk cId="0" sldId="267"/>
            <ac:spMk id="17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4:06:43.823" v="52" actId="478"/>
          <ac:spMkLst>
            <pc:docMk/>
            <pc:sldMk cId="0" sldId="267"/>
            <ac:spMk id="19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06:49.441" v="54" actId="14100"/>
          <ac:picMkLst>
            <pc:docMk/>
            <pc:sldMk cId="0" sldId="267"/>
            <ac:picMk id="22" creationId="{917F13B6-434C-274E-EF9E-4AA2FADA2DBF}"/>
          </ac:picMkLst>
        </pc:picChg>
      </pc:sldChg>
      <pc:sldChg chg="addSp delSp mod modNotesTx">
        <pc:chgData name="Info Desk" userId="ae29397e-aa92-4942-b8aa-5abb4bbe6b04" providerId="ADAL" clId="{C582BD9D-488B-425A-A8CB-82D43A2C2498}" dt="2026-09-03T14:11:37.555" v="59" actId="20577"/>
        <pc:sldMkLst>
          <pc:docMk/>
          <pc:sldMk cId="0" sldId="268"/>
        </pc:sldMkLst>
        <pc:spChg chg="del">
          <ac:chgData name="Info Desk" userId="ae29397e-aa92-4942-b8aa-5abb4bbe6b04" providerId="ADAL" clId="{C582BD9D-488B-425A-A8CB-82D43A2C2498}" dt="2026-09-03T14:10:13.415" v="55" actId="478"/>
          <ac:spMkLst>
            <pc:docMk/>
            <pc:sldMk cId="0" sldId="268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0:13.415" v="55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0:13.415" v="55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0:13.415" v="55" actId="478"/>
          <ac:spMkLst>
            <pc:docMk/>
            <pc:sldMk cId="0" sldId="268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0:13.415" v="55" actId="478"/>
          <ac:spMkLst>
            <pc:docMk/>
            <pc:sldMk cId="0" sldId="268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0:13.415" v="55" actId="478"/>
          <ac:spMkLst>
            <pc:docMk/>
            <pc:sldMk cId="0" sldId="268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0:13.415" v="55" actId="478"/>
          <ac:spMkLst>
            <pc:docMk/>
            <pc:sldMk cId="0" sldId="268"/>
            <ac:spMk id="11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0:13.415" v="55" actId="478"/>
          <ac:spMkLst>
            <pc:docMk/>
            <pc:sldMk cId="0" sldId="268"/>
            <ac:spMk id="1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0:13.415" v="55" actId="478"/>
          <ac:spMkLst>
            <pc:docMk/>
            <pc:sldMk cId="0" sldId="268"/>
            <ac:spMk id="1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0:13.415" v="55" actId="478"/>
          <ac:spMkLst>
            <pc:docMk/>
            <pc:sldMk cId="0" sldId="268"/>
            <ac:spMk id="1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10:15.043" v="56" actId="22"/>
          <ac:picMkLst>
            <pc:docMk/>
            <pc:sldMk cId="0" sldId="268"/>
            <ac:picMk id="17" creationId="{4B1DFACE-8940-EEDC-8E30-6EF25B96DBFF}"/>
          </ac:picMkLst>
        </pc:picChg>
      </pc:sldChg>
      <pc:sldChg chg="addSp modSp mod">
        <pc:chgData name="Info Desk" userId="ae29397e-aa92-4942-b8aa-5abb4bbe6b04" providerId="ADAL" clId="{C582BD9D-488B-425A-A8CB-82D43A2C2498}" dt="2026-09-03T14:15:05.566" v="74" actId="1076"/>
        <pc:sldMkLst>
          <pc:docMk/>
          <pc:sldMk cId="0" sldId="269"/>
        </pc:sldMkLst>
        <pc:spChg chg="mod">
          <ac:chgData name="Info Desk" userId="ae29397e-aa92-4942-b8aa-5abb4bbe6b04" providerId="ADAL" clId="{C582BD9D-488B-425A-A8CB-82D43A2C2498}" dt="2026-09-03T14:14:46.876" v="68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14:59.540" v="71" actId="255"/>
          <ac:spMkLst>
            <pc:docMk/>
            <pc:sldMk cId="0" sldId="269"/>
            <ac:spMk id="4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15:05.566" v="74" actId="1076"/>
          <ac:picMkLst>
            <pc:docMk/>
            <pc:sldMk cId="0" sldId="269"/>
            <ac:picMk id="7" creationId="{00DC516C-A45D-7E96-ECF3-AB8979C2ADB3}"/>
          </ac:picMkLst>
        </pc:picChg>
      </pc:sldChg>
      <pc:sldChg chg="addSp delSp mod modNotesTx">
        <pc:chgData name="Info Desk" userId="ae29397e-aa92-4942-b8aa-5abb4bbe6b04" providerId="ADAL" clId="{C582BD9D-488B-425A-A8CB-82D43A2C2498}" dt="2026-09-03T14:20:44.270" v="81" actId="20577"/>
        <pc:sldMkLst>
          <pc:docMk/>
          <pc:sldMk cId="0" sldId="270"/>
        </pc:sldMkLst>
        <pc:spChg chg="del">
          <ac:chgData name="Info Desk" userId="ae29397e-aa92-4942-b8aa-5abb4bbe6b04" providerId="ADAL" clId="{C582BD9D-488B-425A-A8CB-82D43A2C2498}" dt="2026-09-03T14:19:02.751" v="75" actId="478"/>
          <ac:spMkLst>
            <pc:docMk/>
            <pc:sldMk cId="0" sldId="270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9:02.751" v="75" actId="478"/>
          <ac:spMkLst>
            <pc:docMk/>
            <pc:sldMk cId="0" sldId="270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9:02.751" v="75" actId="478"/>
          <ac:spMkLst>
            <pc:docMk/>
            <pc:sldMk cId="0" sldId="270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9:02.751" v="75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9:02.751" v="75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9:02.751" v="75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9:02.751" v="75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9:02.751" v="75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9:02.751" v="75" actId="478"/>
          <ac:spMkLst>
            <pc:docMk/>
            <pc:sldMk cId="0" sldId="270"/>
            <ac:spMk id="1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19:02.751" v="75" actId="478"/>
          <ac:spMkLst>
            <pc:docMk/>
            <pc:sldMk cId="0" sldId="270"/>
            <ac:spMk id="18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19:04.309" v="76" actId="22"/>
          <ac:picMkLst>
            <pc:docMk/>
            <pc:sldMk cId="0" sldId="270"/>
            <ac:picMk id="21" creationId="{BF0782FD-2335-D9D1-D8E4-C38439478974}"/>
          </ac:picMkLst>
        </pc:picChg>
      </pc:sldChg>
      <pc:sldChg chg="addSp delSp mod">
        <pc:chgData name="Info Desk" userId="ae29397e-aa92-4942-b8aa-5abb4bbe6b04" providerId="ADAL" clId="{C582BD9D-488B-425A-A8CB-82D43A2C2498}" dt="2026-09-03T14:23:48.370" v="83" actId="22"/>
        <pc:sldMkLst>
          <pc:docMk/>
          <pc:sldMk cId="0" sldId="272"/>
        </pc:sldMkLst>
        <pc:picChg chg="add del">
          <ac:chgData name="Info Desk" userId="ae29397e-aa92-4942-b8aa-5abb4bbe6b04" providerId="ADAL" clId="{C582BD9D-488B-425A-A8CB-82D43A2C2498}" dt="2026-09-03T14:23:48.370" v="83" actId="22"/>
          <ac:picMkLst>
            <pc:docMk/>
            <pc:sldMk cId="0" sldId="272"/>
            <ac:picMk id="17" creationId="{380223B5-23E8-2715-9E0D-D203595E34AB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27:55.197" v="97" actId="1076"/>
        <pc:sldMkLst>
          <pc:docMk/>
          <pc:sldMk cId="0" sldId="273"/>
        </pc:sldMkLst>
        <pc:spChg chg="mod">
          <ac:chgData name="Info Desk" userId="ae29397e-aa92-4942-b8aa-5abb4bbe6b04" providerId="ADAL" clId="{C582BD9D-488B-425A-A8CB-82D43A2C2498}" dt="2026-09-03T14:27:38.402" v="93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27:44.291" v="94" actId="1076"/>
          <ac:spMkLst>
            <pc:docMk/>
            <pc:sldMk cId="0" sldId="273"/>
            <ac:spMk id="3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27:44.291" v="94" actId="1076"/>
          <ac:spMkLst>
            <pc:docMk/>
            <pc:sldMk cId="0" sldId="273"/>
            <ac:spMk id="4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27:44.291" v="94" actId="1076"/>
          <ac:spMkLst>
            <pc:docMk/>
            <pc:sldMk cId="0" sldId="273"/>
            <ac:spMk id="5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4:27:29.824" v="90"/>
          <ac:spMkLst>
            <pc:docMk/>
            <pc:sldMk cId="0" sldId="273"/>
            <ac:spMk id="6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27:55.197" v="97" actId="1076"/>
          <ac:picMkLst>
            <pc:docMk/>
            <pc:sldMk cId="0" sldId="273"/>
            <ac:picMk id="9" creationId="{516F9881-9C52-D19D-2010-3ED7C20B2869}"/>
          </ac:picMkLst>
        </pc:picChg>
      </pc:sldChg>
      <pc:sldChg chg="del">
        <pc:chgData name="Info Desk" userId="ae29397e-aa92-4942-b8aa-5abb4bbe6b04" providerId="ADAL" clId="{C582BD9D-488B-425A-A8CB-82D43A2C2498}" dt="2026-09-03T14:28:11.071" v="98" actId="2696"/>
        <pc:sldMkLst>
          <pc:docMk/>
          <pc:sldMk cId="0" sldId="274"/>
        </pc:sldMkLst>
      </pc:sldChg>
      <pc:sldChg chg="addSp delSp modSp mod">
        <pc:chgData name="Info Desk" userId="ae29397e-aa92-4942-b8aa-5abb4bbe6b04" providerId="ADAL" clId="{C582BD9D-488B-425A-A8CB-82D43A2C2498}" dt="2026-09-03T14:34:52.854" v="107" actId="1076"/>
        <pc:sldMkLst>
          <pc:docMk/>
          <pc:sldMk cId="0" sldId="277"/>
        </pc:sldMkLst>
        <pc:spChg chg="mod">
          <ac:chgData name="Info Desk" userId="ae29397e-aa92-4942-b8aa-5abb4bbe6b04" providerId="ADAL" clId="{C582BD9D-488B-425A-A8CB-82D43A2C2498}" dt="2026-09-03T14:34:46.748" v="104" actId="1076"/>
          <ac:spMkLst>
            <pc:docMk/>
            <pc:sldMk cId="0" sldId="277"/>
            <ac:spMk id="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4:39.381" v="101" actId="478"/>
          <ac:spMkLst>
            <pc:docMk/>
            <pc:sldMk cId="0" sldId="277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4:39.381" v="101" actId="478"/>
          <ac:spMkLst>
            <pc:docMk/>
            <pc:sldMk cId="0" sldId="277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4:39.381" v="101" actId="478"/>
          <ac:spMkLst>
            <pc:docMk/>
            <pc:sldMk cId="0" sldId="277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4:39.381" v="101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4:39.381" v="101" actId="478"/>
          <ac:spMkLst>
            <pc:docMk/>
            <pc:sldMk cId="0" sldId="277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4:39.381" v="101" actId="478"/>
          <ac:spMkLst>
            <pc:docMk/>
            <pc:sldMk cId="0" sldId="277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4:39.381" v="101" actId="478"/>
          <ac:spMkLst>
            <pc:docMk/>
            <pc:sldMk cId="0" sldId="277"/>
            <ac:spMk id="11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4:39.381" v="101" actId="478"/>
          <ac:spMkLst>
            <pc:docMk/>
            <pc:sldMk cId="0" sldId="277"/>
            <ac:spMk id="1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4:39.381" v="101" actId="478"/>
          <ac:spMkLst>
            <pc:docMk/>
            <pc:sldMk cId="0" sldId="277"/>
            <ac:spMk id="1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4:39.381" v="101" actId="478"/>
          <ac:spMkLst>
            <pc:docMk/>
            <pc:sldMk cId="0" sldId="277"/>
            <ac:spMk id="14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34:52.854" v="107" actId="1076"/>
          <ac:picMkLst>
            <pc:docMk/>
            <pc:sldMk cId="0" sldId="277"/>
            <ac:picMk id="17" creationId="{45DB1877-356B-5289-A3DF-8C2EF0D68F58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37:40.565" v="113" actId="1076"/>
        <pc:sldMkLst>
          <pc:docMk/>
          <pc:sldMk cId="0" sldId="278"/>
        </pc:sldMkLst>
        <pc:spChg chg="mod">
          <ac:chgData name="Info Desk" userId="ae29397e-aa92-4942-b8aa-5abb4bbe6b04" providerId="ADAL" clId="{C582BD9D-488B-425A-A8CB-82D43A2C2498}" dt="2026-09-03T14:37:37.486" v="111" actId="1076"/>
          <ac:spMkLst>
            <pc:docMk/>
            <pc:sldMk cId="0" sldId="278"/>
            <ac:spMk id="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7:30.739" v="108" actId="478"/>
          <ac:spMkLst>
            <pc:docMk/>
            <pc:sldMk cId="0" sldId="278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7:30.739" v="108" actId="478"/>
          <ac:spMkLst>
            <pc:docMk/>
            <pc:sldMk cId="0" sldId="278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7:30.739" v="108" actId="478"/>
          <ac:spMkLst>
            <pc:docMk/>
            <pc:sldMk cId="0" sldId="278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7:30.739" v="108" actId="478"/>
          <ac:spMkLst>
            <pc:docMk/>
            <pc:sldMk cId="0" sldId="278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7:30.739" v="108" actId="478"/>
          <ac:spMkLst>
            <pc:docMk/>
            <pc:sldMk cId="0" sldId="278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7:30.739" v="108" actId="478"/>
          <ac:spMkLst>
            <pc:docMk/>
            <pc:sldMk cId="0" sldId="278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7:30.739" v="108" actId="478"/>
          <ac:spMkLst>
            <pc:docMk/>
            <pc:sldMk cId="0" sldId="278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7:30.739" v="108" actId="478"/>
          <ac:spMkLst>
            <pc:docMk/>
            <pc:sldMk cId="0" sldId="278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7:30.739" v="108" actId="478"/>
          <ac:spMkLst>
            <pc:docMk/>
            <pc:sldMk cId="0" sldId="278"/>
            <ac:spMk id="1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4:37:30.739" v="108" actId="478"/>
          <ac:spMkLst>
            <pc:docMk/>
            <pc:sldMk cId="0" sldId="278"/>
            <ac:spMk id="14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37:40.565" v="113" actId="1076"/>
          <ac:picMkLst>
            <pc:docMk/>
            <pc:sldMk cId="0" sldId="278"/>
            <ac:picMk id="17" creationId="{1FF9D7A1-7C16-5421-1818-83E92B00346F}"/>
          </ac:picMkLst>
        </pc:picChg>
      </pc:sldChg>
      <pc:sldChg chg="del">
        <pc:chgData name="Info Desk" userId="ae29397e-aa92-4942-b8aa-5abb4bbe6b04" providerId="ADAL" clId="{C582BD9D-488B-425A-A8CB-82D43A2C2498}" dt="2026-09-03T14:38:04.154" v="114" actId="47"/>
        <pc:sldMkLst>
          <pc:docMk/>
          <pc:sldMk cId="0" sldId="280"/>
        </pc:sldMkLst>
      </pc:sldChg>
      <pc:sldChg chg="addSp delSp modSp mod">
        <pc:chgData name="Info Desk" userId="ae29397e-aa92-4942-b8aa-5abb4bbe6b04" providerId="ADAL" clId="{C582BD9D-488B-425A-A8CB-82D43A2C2498}" dt="2026-09-03T14:41:22.516" v="130" actId="1076"/>
        <pc:sldMkLst>
          <pc:docMk/>
          <pc:sldMk cId="0" sldId="281"/>
        </pc:sldMkLst>
        <pc:spChg chg="mod">
          <ac:chgData name="Info Desk" userId="ae29397e-aa92-4942-b8aa-5abb4bbe6b04" providerId="ADAL" clId="{C582BD9D-488B-425A-A8CB-82D43A2C2498}" dt="2026-09-03T14:40:34.884" v="115" actId="164"/>
          <ac:spMkLst>
            <pc:docMk/>
            <pc:sldMk cId="0" sldId="281"/>
            <ac:spMk id="3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40:34.884" v="115" actId="164"/>
          <ac:spMkLst>
            <pc:docMk/>
            <pc:sldMk cId="0" sldId="281"/>
            <ac:spMk id="4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40:34.884" v="115" actId="164"/>
          <ac:spMkLst>
            <pc:docMk/>
            <pc:sldMk cId="0" sldId="281"/>
            <ac:spMk id="5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40:34.884" v="115" actId="164"/>
          <ac:spMkLst>
            <pc:docMk/>
            <pc:sldMk cId="0" sldId="281"/>
            <ac:spMk id="6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40:34.884" v="115" actId="164"/>
          <ac:spMkLst>
            <pc:docMk/>
            <pc:sldMk cId="0" sldId="281"/>
            <ac:spMk id="7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40:34.884" v="115" actId="164"/>
          <ac:spMkLst>
            <pc:docMk/>
            <pc:sldMk cId="0" sldId="281"/>
            <ac:spMk id="8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40:34.884" v="115" actId="164"/>
          <ac:spMkLst>
            <pc:docMk/>
            <pc:sldMk cId="0" sldId="281"/>
            <ac:spMk id="9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40:34.884" v="115" actId="164"/>
          <ac:spMkLst>
            <pc:docMk/>
            <pc:sldMk cId="0" sldId="281"/>
            <ac:spMk id="10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40:34.884" v="115" actId="164"/>
          <ac:spMkLst>
            <pc:docMk/>
            <pc:sldMk cId="0" sldId="281"/>
            <ac:spMk id="1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4:40:34.884" v="115" actId="164"/>
          <ac:spMkLst>
            <pc:docMk/>
            <pc:sldMk cId="0" sldId="281"/>
            <ac:spMk id="13" creationId="{00000000-0000-0000-0000-000000000000}"/>
          </ac:spMkLst>
        </pc:spChg>
        <pc:grpChg chg="del">
          <ac:chgData name="Info Desk" userId="ae29397e-aa92-4942-b8aa-5abb4bbe6b04" providerId="ADAL" clId="{C582BD9D-488B-425A-A8CB-82D43A2C2498}" dt="2026-09-03T14:40:39.011" v="116" actId="21"/>
          <ac:grpSpMkLst>
            <pc:docMk/>
            <pc:sldMk cId="0" sldId="281"/>
            <ac:grpSpMk id="16" creationId="{59D14C1E-232C-FAD5-C254-8279BB92DBC4}"/>
          </ac:grpSpMkLst>
        </pc:grpChg>
        <pc:picChg chg="add del mod">
          <ac:chgData name="Info Desk" userId="ae29397e-aa92-4942-b8aa-5abb4bbe6b04" providerId="ADAL" clId="{C582BD9D-488B-425A-A8CB-82D43A2C2498}" dt="2026-09-03T14:41:13.084" v="125" actId="478"/>
          <ac:picMkLst>
            <pc:docMk/>
            <pc:sldMk cId="0" sldId="281"/>
            <ac:picMk id="18" creationId="{FA7D0D6B-0A49-FBCB-53BB-67CD6368DFAF}"/>
          </ac:picMkLst>
        </pc:picChg>
        <pc:picChg chg="add mod">
          <ac:chgData name="Info Desk" userId="ae29397e-aa92-4942-b8aa-5abb4bbe6b04" providerId="ADAL" clId="{C582BD9D-488B-425A-A8CB-82D43A2C2498}" dt="2026-09-03T14:41:22.516" v="130" actId="1076"/>
          <ac:picMkLst>
            <pc:docMk/>
            <pc:sldMk cId="0" sldId="281"/>
            <ac:picMk id="20" creationId="{A0CEBA9B-0C4F-3203-2024-79F7EF477538}"/>
          </ac:picMkLst>
        </pc:picChg>
      </pc:sldChg>
      <pc:sldChg chg="del">
        <pc:chgData name="Info Desk" userId="ae29397e-aa92-4942-b8aa-5abb4bbe6b04" providerId="ADAL" clId="{C582BD9D-488B-425A-A8CB-82D43A2C2498}" dt="2026-09-03T14:42:17.541" v="131" actId="2696"/>
        <pc:sldMkLst>
          <pc:docMk/>
          <pc:sldMk cId="0" sldId="282"/>
        </pc:sldMkLst>
      </pc:sldChg>
      <pc:sldChg chg="del">
        <pc:chgData name="Info Desk" userId="ae29397e-aa92-4942-b8aa-5abb4bbe6b04" providerId="ADAL" clId="{C582BD9D-488B-425A-A8CB-82D43A2C2498}" dt="2026-09-03T14:42:38.258" v="132" actId="2696"/>
        <pc:sldMkLst>
          <pc:docMk/>
          <pc:sldMk cId="0" sldId="283"/>
        </pc:sldMkLst>
      </pc:sldChg>
      <pc:sldChg chg="del">
        <pc:chgData name="Info Desk" userId="ae29397e-aa92-4942-b8aa-5abb4bbe6b04" providerId="ADAL" clId="{C582BD9D-488B-425A-A8CB-82D43A2C2498}" dt="2026-09-03T14:42:46.678" v="133" actId="2696"/>
        <pc:sldMkLst>
          <pc:docMk/>
          <pc:sldMk cId="0" sldId="284"/>
        </pc:sldMkLst>
      </pc:sldChg>
      <pc:sldChg chg="modNotesTx">
        <pc:chgData name="Info Desk" userId="ae29397e-aa92-4942-b8aa-5abb4bbe6b04" providerId="ADAL" clId="{C582BD9D-488B-425A-A8CB-82D43A2C2498}" dt="2026-09-03T14:44:20.443" v="138" actId="20577"/>
        <pc:sldMkLst>
          <pc:docMk/>
          <pc:sldMk cId="0" sldId="286"/>
        </pc:sldMkLst>
      </pc:sldChg>
      <pc:sldChg chg="modNotesTx">
        <pc:chgData name="Info Desk" userId="ae29397e-aa92-4942-b8aa-5abb4bbe6b04" providerId="ADAL" clId="{C582BD9D-488B-425A-A8CB-82D43A2C2498}" dt="2026-09-03T14:49:50.236" v="141" actId="20577"/>
        <pc:sldMkLst>
          <pc:docMk/>
          <pc:sldMk cId="0" sldId="293"/>
        </pc:sldMkLst>
      </pc:sldChg>
      <pc:sldChg chg="addSp modSp new mod">
        <pc:chgData name="Info Desk" userId="ae29397e-aa92-4942-b8aa-5abb4bbe6b04" providerId="ADAL" clId="{C582BD9D-488B-425A-A8CB-82D43A2C2498}" dt="2026-09-03T14:24:06.702" v="87" actId="1076"/>
        <pc:sldMkLst>
          <pc:docMk/>
          <pc:sldMk cId="1058097016" sldId="296"/>
        </pc:sldMkLst>
        <pc:picChg chg="add mod">
          <ac:chgData name="Info Desk" userId="ae29397e-aa92-4942-b8aa-5abb4bbe6b04" providerId="ADAL" clId="{C582BD9D-488B-425A-A8CB-82D43A2C2498}" dt="2026-09-03T14:24:06.702" v="87" actId="1076"/>
          <ac:picMkLst>
            <pc:docMk/>
            <pc:sldMk cId="1058097016" sldId="296"/>
            <ac:picMk id="3" creationId="{E316CA04-183D-0D09-424B-6A3C17EDE863}"/>
          </ac:picMkLst>
        </pc:picChg>
      </pc:sldChg>
      <pc:sldChg chg="addSp new mod">
        <pc:chgData name="Info Desk" userId="ae29397e-aa92-4942-b8aa-5abb4bbe6b04" providerId="ADAL" clId="{C582BD9D-488B-425A-A8CB-82D43A2C2498}" dt="2026-09-03T14:32:00.344" v="100" actId="22"/>
        <pc:sldMkLst>
          <pc:docMk/>
          <pc:sldMk cId="3038353723" sldId="297"/>
        </pc:sldMkLst>
        <pc:picChg chg="add">
          <ac:chgData name="Info Desk" userId="ae29397e-aa92-4942-b8aa-5abb4bbe6b04" providerId="ADAL" clId="{C582BD9D-488B-425A-A8CB-82D43A2C2498}" dt="2026-09-03T14:32:00.344" v="100" actId="22"/>
          <ac:picMkLst>
            <pc:docMk/>
            <pc:sldMk cId="3038353723" sldId="297"/>
            <ac:picMk id="3" creationId="{F3DE2D28-F644-59CD-8E48-3B805A5C4BEC}"/>
          </ac:picMkLst>
        </pc:picChg>
      </pc:sldChg>
      <pc:sldChg chg="addSp new mod">
        <pc:chgData name="Info Desk" userId="ae29397e-aa92-4942-b8aa-5abb4bbe6b04" providerId="ADAL" clId="{C582BD9D-488B-425A-A8CB-82D43A2C2498}" dt="2026-09-03T14:47:50.046" v="140" actId="22"/>
        <pc:sldMkLst>
          <pc:docMk/>
          <pc:sldMk cId="3067473988" sldId="298"/>
        </pc:sldMkLst>
        <pc:picChg chg="add">
          <ac:chgData name="Info Desk" userId="ae29397e-aa92-4942-b8aa-5abb4bbe6b04" providerId="ADAL" clId="{C582BD9D-488B-425A-A8CB-82D43A2C2498}" dt="2026-09-03T14:47:50.046" v="140" actId="22"/>
          <ac:picMkLst>
            <pc:docMk/>
            <pc:sldMk cId="3067473988" sldId="298"/>
            <ac:picMk id="3" creationId="{875396AF-3AD1-74B5-E4F5-A570B76CB95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516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 we move from building networks to operating them reliably.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Let’s look at </a:t>
            </a:r>
            <a:r>
              <a:rPr lang="en-US" b="1" dirty="0"/>
              <a:t>Network Operations as one continuous cycle</a:t>
            </a:r>
            <a:r>
              <a:rPr lang="en-US" dirty="0"/>
              <a:t>.</a:t>
            </a:r>
          </a:p>
          <a:p>
            <a:r>
              <a:rPr lang="en-US" dirty="0"/>
              <a:t>Imagine we are managing a small company network.</a:t>
            </a:r>
          </a:p>
          <a:p>
            <a:endParaRPr lang="en-US" dirty="0"/>
          </a:p>
          <a:p>
            <a:r>
              <a:rPr lang="en-US" dirty="0"/>
              <a:t>First, we </a:t>
            </a:r>
            <a:r>
              <a:rPr lang="en-US" b="1" dirty="0"/>
              <a:t>discover</a:t>
            </a:r>
            <a:r>
              <a:rPr lang="en-US" dirty="0"/>
              <a:t> what devices we have — switches, routers, access points and servers.</a:t>
            </a:r>
          </a:p>
          <a:p>
            <a:endParaRPr lang="en-US" dirty="0"/>
          </a:p>
          <a:p>
            <a:r>
              <a:rPr lang="en-US" dirty="0"/>
              <a:t>Then we </a:t>
            </a:r>
            <a:r>
              <a:rPr lang="en-US" b="1" dirty="0"/>
              <a:t>document</a:t>
            </a:r>
            <a:r>
              <a:rPr lang="en-US" dirty="0"/>
              <a:t> everything: where each device is, which port connects where, and what IP addresses are being used.</a:t>
            </a:r>
          </a:p>
          <a:p>
            <a:endParaRPr lang="en-US" dirty="0"/>
          </a:p>
          <a:p>
            <a:r>
              <a:rPr lang="en-US" dirty="0"/>
              <a:t>Next, we create a </a:t>
            </a:r>
            <a:r>
              <a:rPr lang="en-US" b="1" dirty="0"/>
              <a:t>baseline</a:t>
            </a:r>
            <a:r>
              <a:rPr lang="en-US" dirty="0"/>
              <a:t>. For example, we know that normally the internet response time is around 20 milliseconds.</a:t>
            </a:r>
          </a:p>
          <a:p>
            <a:endParaRPr lang="en-US" dirty="0"/>
          </a:p>
          <a:p>
            <a:r>
              <a:rPr lang="en-US" dirty="0"/>
              <a:t>Now suppose we need to make a </a:t>
            </a:r>
            <a:r>
              <a:rPr lang="en-US" b="1" dirty="0"/>
              <a:t>change</a:t>
            </a:r>
            <a:r>
              <a:rPr lang="en-US" dirty="0"/>
              <a:t> — maybe we move a department to a new VLAN. Before changing anything, we record the current configuration.</a:t>
            </a:r>
          </a:p>
          <a:p>
            <a:endParaRPr lang="en-US" dirty="0"/>
          </a:p>
          <a:p>
            <a:r>
              <a:rPr lang="en-US" dirty="0"/>
              <a:t>After the change, we </a:t>
            </a:r>
            <a:r>
              <a:rPr lang="en-US" b="1" dirty="0"/>
              <a:t>monitor</a:t>
            </a:r>
            <a:r>
              <a:rPr lang="en-US" dirty="0"/>
              <a:t> the network and </a:t>
            </a:r>
            <a:r>
              <a:rPr lang="en-US" b="1" dirty="0"/>
              <a:t>verify</a:t>
            </a:r>
            <a:r>
              <a:rPr lang="en-US" dirty="0"/>
              <a:t> that users can still access their applications.</a:t>
            </a:r>
          </a:p>
          <a:p>
            <a:endParaRPr lang="en-US" dirty="0"/>
          </a:p>
          <a:p>
            <a:r>
              <a:rPr lang="en-US" dirty="0"/>
              <a:t>If something goes wrong, we </a:t>
            </a:r>
            <a:r>
              <a:rPr lang="en-US" b="1" dirty="0"/>
              <a:t>recover</a:t>
            </a:r>
            <a:r>
              <a:rPr lang="en-US" dirty="0"/>
              <a:t> — perhaps by rolling back the change or switching to a backup system.</a:t>
            </a:r>
          </a:p>
          <a:p>
            <a:r>
              <a:rPr lang="en-US" dirty="0"/>
              <a:t>And finally, we </a:t>
            </a:r>
            <a:r>
              <a:rPr lang="en-US" b="1" dirty="0"/>
              <a:t>document what happened</a:t>
            </a:r>
            <a:r>
              <a:rPr lang="en-US" dirty="0"/>
              <a:t>.</a:t>
            </a:r>
          </a:p>
          <a:p>
            <a:r>
              <a:rPr lang="en-US" dirty="0"/>
              <a:t>So remember this simple story:</a:t>
            </a:r>
          </a:p>
          <a:p>
            <a:r>
              <a:rPr lang="en-US" b="1" dirty="0"/>
              <a:t>Know it → Record it → Measure it → Change it → Watch it → Check it → Recover it → Record it again.</a:t>
            </a:r>
            <a:endParaRPr lang="en-US" dirty="0"/>
          </a:p>
          <a:p>
            <a:r>
              <a:rPr lang="en-US" dirty="0"/>
              <a:t>That is the basic mindset of </a:t>
            </a:r>
            <a:r>
              <a:rPr lang="en-US" b="1" dirty="0"/>
              <a:t>Network Operations</a:t>
            </a:r>
            <a:r>
              <a:rPr lang="en-US" dirty="0"/>
              <a:t>. We don't just configure a network and walk away — we continuously operate and maintain it.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Now let’s understand </a:t>
            </a:r>
            <a:r>
              <a:rPr lang="en-US" b="1" dirty="0"/>
              <a:t>why organizational processes are important in networking</a:t>
            </a:r>
            <a:r>
              <a:rPr lang="en-US" dirty="0"/>
              <a:t>.</a:t>
            </a:r>
          </a:p>
          <a:p>
            <a:r>
              <a:rPr lang="en-US" dirty="0"/>
              <a:t>Imagine you are managing the network of a small office.</a:t>
            </a:r>
          </a:p>
          <a:p>
            <a:endParaRPr lang="en-US" b="1" dirty="0"/>
          </a:p>
          <a:p>
            <a:r>
              <a:rPr lang="en-US" b="1" dirty="0"/>
              <a:t>First — Documentation.</a:t>
            </a:r>
            <a:br>
              <a:rPr lang="en-US" dirty="0"/>
            </a:br>
            <a:r>
              <a:rPr lang="en-US" dirty="0"/>
              <a:t>We need to know what devices we have, where they are, and how they are connected.</a:t>
            </a:r>
            <a:br>
              <a:rPr lang="en-US" dirty="0"/>
            </a:br>
            <a:r>
              <a:rPr lang="en-US" dirty="0"/>
              <a:t>For example, we should know: </a:t>
            </a:r>
            <a:r>
              <a:rPr lang="en-US" i="1" dirty="0"/>
              <a:t>Which switch connects to the router? Which port is connected to the server?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Second — Life-cycle.</a:t>
            </a:r>
            <a:br>
              <a:rPr lang="en-US" dirty="0"/>
            </a:br>
            <a:r>
              <a:rPr lang="en-US" dirty="0"/>
              <a:t>Every network device has a life-cycle:</a:t>
            </a:r>
            <a:br>
              <a:rPr lang="en-US" dirty="0"/>
            </a:br>
            <a:r>
              <a:rPr lang="en-US" b="1" dirty="0"/>
              <a:t>Plan → Deploy → Operate → Maintain → Retire.</a:t>
            </a:r>
            <a:br>
              <a:rPr lang="en-US" dirty="0"/>
            </a:br>
            <a:r>
              <a:rPr lang="en-US" dirty="0"/>
              <a:t>For example, we install a new switch, use it for several years, maintain it, and eventually replace it.</a:t>
            </a:r>
          </a:p>
          <a:p>
            <a:endParaRPr lang="en-US" b="1" dirty="0"/>
          </a:p>
          <a:p>
            <a:r>
              <a:rPr lang="en-US" b="1" dirty="0"/>
              <a:t>Third — Change.</a:t>
            </a:r>
            <a:br>
              <a:rPr lang="en-US" dirty="0"/>
            </a:br>
            <a:r>
              <a:rPr lang="en-US" dirty="0"/>
              <a:t>Suppose we want to move users to a new VLAN. We should ask:</a:t>
            </a:r>
            <a:br>
              <a:rPr lang="en-US" dirty="0"/>
            </a:br>
            <a:r>
              <a:rPr lang="en-US" b="1" dirty="0"/>
              <a:t>What are we changing? Why are we changing it? What could be affected?</a:t>
            </a:r>
            <a:br>
              <a:rPr lang="en-US" dirty="0"/>
            </a:br>
            <a:r>
              <a:rPr lang="en-US" dirty="0"/>
              <a:t>And most importantly, </a:t>
            </a:r>
            <a:r>
              <a:rPr lang="en-US" i="1" dirty="0"/>
              <a:t>What will we do if something goes wrong?</a:t>
            </a:r>
            <a:r>
              <a:rPr lang="en-US" dirty="0"/>
              <a:t> That is our </a:t>
            </a:r>
            <a:r>
              <a:rPr lang="en-US" b="1" dirty="0"/>
              <a:t>rollback plan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Fourth — Configuration.</a:t>
            </a:r>
            <a:br>
              <a:rPr lang="en-US" dirty="0"/>
            </a:br>
            <a:r>
              <a:rPr lang="en-US" dirty="0"/>
              <a:t>We need to know what settings are actually active on the device and what has changed.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For example, if a user suddenly loses network access, we can check whether someone recently changed the VLAN or port configuration.</a:t>
            </a:r>
          </a:p>
          <a:p>
            <a:r>
              <a:rPr lang="en-US" dirty="0"/>
              <a:t>So the simple idea is:</a:t>
            </a:r>
          </a:p>
          <a:p>
            <a:r>
              <a:rPr lang="en-US" b="1" dirty="0"/>
              <a:t>Document it → Manage its life → Control changes → Check configuration.</a:t>
            </a:r>
            <a:endParaRPr lang="en-US" dirty="0"/>
          </a:p>
          <a:p>
            <a:r>
              <a:rPr lang="en-US" dirty="0"/>
              <a:t>Good processes make troubleshooting much easier because we know </a:t>
            </a:r>
            <a:r>
              <a:rPr lang="en-US" b="1" dirty="0"/>
              <a:t>what we have, what changed, and what the network should look like</a:t>
            </a:r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Network documentation is basically the </a:t>
            </a:r>
            <a:r>
              <a:rPr lang="en-US" b="1" dirty="0"/>
              <a:t>network’s notebook</a:t>
            </a:r>
            <a:r>
              <a:rPr lang="en-US" dirty="0"/>
              <a:t>.</a:t>
            </a:r>
          </a:p>
          <a:p>
            <a:r>
              <a:rPr lang="en-US" dirty="0"/>
              <a:t>First, we have </a:t>
            </a:r>
            <a:r>
              <a:rPr lang="en-US" b="1" dirty="0"/>
              <a:t>Topology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shows us </a:t>
            </a:r>
            <a:r>
              <a:rPr lang="en-US" b="1" dirty="0"/>
              <a:t>how devices are connected</a:t>
            </a:r>
            <a:r>
              <a:rPr lang="en-US" dirty="0"/>
              <a:t> — switches, routers, VLANs and links.</a:t>
            </a:r>
          </a:p>
          <a:p>
            <a:endParaRPr lang="en-US" dirty="0"/>
          </a:p>
          <a:p>
            <a:r>
              <a:rPr lang="en-US" dirty="0"/>
              <a:t>Second, we have </a:t>
            </a:r>
            <a:r>
              <a:rPr lang="en-US" b="1" dirty="0"/>
              <a:t>Inventory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tells us </a:t>
            </a:r>
            <a:r>
              <a:rPr lang="en-US" b="1" dirty="0"/>
              <a:t>what devices we have</a:t>
            </a:r>
            <a:r>
              <a:rPr lang="en-US" dirty="0"/>
              <a:t> and important details like hostname, role and management IP.</a:t>
            </a:r>
          </a:p>
          <a:p>
            <a:endParaRPr lang="en-US" dirty="0"/>
          </a:p>
          <a:p>
            <a:r>
              <a:rPr lang="en-US" dirty="0"/>
              <a:t>Third, we have </a:t>
            </a:r>
            <a:r>
              <a:rPr lang="en-US" b="1" dirty="0"/>
              <a:t>Records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These tell us things like </a:t>
            </a:r>
            <a:r>
              <a:rPr lang="en-US" b="1" dirty="0"/>
              <a:t>which ports are used, IP addresses, services and changes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For example, imagine a user cannot connect to the network.</a:t>
            </a:r>
          </a:p>
          <a:p>
            <a:r>
              <a:rPr lang="en-US" dirty="0"/>
              <a:t>Instead of checking everything randomly, we can look at our documentation:</a:t>
            </a:r>
          </a:p>
          <a:p>
            <a:r>
              <a:rPr lang="en-US" b="1" dirty="0"/>
              <a:t>Where is the PC connected? → Which switch port? → Which VLAN? → Which IP network? → What changed recently?</a:t>
            </a:r>
            <a:endParaRPr lang="en-US" dirty="0"/>
          </a:p>
          <a:p>
            <a:r>
              <a:rPr lang="en-US" dirty="0"/>
              <a:t>So remember:</a:t>
            </a:r>
          </a:p>
          <a:p>
            <a:r>
              <a:rPr lang="en-US" b="1" dirty="0"/>
              <a:t>Topology = How it is connected</a:t>
            </a:r>
            <a:br>
              <a:rPr lang="en-US" dirty="0"/>
            </a:br>
            <a:r>
              <a:rPr lang="en-US" b="1" dirty="0"/>
              <a:t>Inventory = What we have</a:t>
            </a:r>
            <a:br>
              <a:rPr lang="en-US" dirty="0"/>
            </a:br>
            <a:r>
              <a:rPr lang="en-US" b="1" dirty="0"/>
              <a:t>Records = What is configured and what changed</a:t>
            </a:r>
            <a:endParaRPr lang="en-US" dirty="0"/>
          </a:p>
          <a:p>
            <a:r>
              <a:rPr lang="en-US" dirty="0"/>
              <a:t>Good documentation turns troubleshooting from </a:t>
            </a:r>
            <a:r>
              <a:rPr lang="en-US" b="1" dirty="0"/>
              <a:t>guessing into checking</a:t>
            </a:r>
            <a:r>
              <a:rPr lang="en-US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Now let’s understand </a:t>
            </a:r>
            <a:r>
              <a:rPr lang="en-US" b="1" dirty="0"/>
              <a:t>change management</a:t>
            </a:r>
            <a:r>
              <a:rPr lang="en-US" dirty="0"/>
              <a:t> with a very simple example.</a:t>
            </a:r>
          </a:p>
          <a:p>
            <a:r>
              <a:rPr lang="en-US" dirty="0"/>
              <a:t>Imagine our company wants to </a:t>
            </a:r>
            <a:r>
              <a:rPr lang="en-US" b="1" dirty="0"/>
              <a:t>replace a network switch</a:t>
            </a:r>
            <a:r>
              <a:rPr lang="en-US" dirty="0"/>
              <a:t>.</a:t>
            </a:r>
          </a:p>
          <a:p>
            <a:r>
              <a:rPr lang="en-US" dirty="0"/>
              <a:t>We don't just unplug the old switch and connect the new one. We follow a controlled process.</a:t>
            </a:r>
          </a:p>
          <a:p>
            <a:endParaRPr lang="en-US" dirty="0"/>
          </a:p>
          <a:p>
            <a:r>
              <a:rPr lang="en-US" dirty="0"/>
              <a:t>First, we </a:t>
            </a:r>
            <a:r>
              <a:rPr lang="en-US" b="1" dirty="0"/>
              <a:t>request</a:t>
            </a:r>
            <a:r>
              <a:rPr lang="en-US" dirty="0"/>
              <a:t> the change.</a:t>
            </a:r>
            <a:br>
              <a:rPr lang="en-US" dirty="0"/>
            </a:br>
            <a:r>
              <a:rPr lang="en-US" dirty="0"/>
              <a:t>Then we </a:t>
            </a:r>
            <a:r>
              <a:rPr lang="en-US" b="1" dirty="0"/>
              <a:t>assess</a:t>
            </a:r>
            <a:r>
              <a:rPr lang="en-US" dirty="0"/>
              <a:t> it — what could be affected?</a:t>
            </a:r>
          </a:p>
          <a:p>
            <a:endParaRPr lang="en-US" dirty="0"/>
          </a:p>
          <a:p>
            <a:r>
              <a:rPr lang="en-US" dirty="0"/>
              <a:t>Next, someone </a:t>
            </a:r>
            <a:r>
              <a:rPr lang="en-US" b="1" dirty="0"/>
              <a:t>approves</a:t>
            </a:r>
            <a:r>
              <a:rPr lang="en-US" dirty="0"/>
              <a:t> the change.</a:t>
            </a:r>
          </a:p>
          <a:p>
            <a:r>
              <a:rPr lang="en-US" dirty="0"/>
              <a:t>We then perform the </a:t>
            </a:r>
            <a:r>
              <a:rPr lang="en-US" b="1" dirty="0"/>
              <a:t>change</a:t>
            </a:r>
            <a:r>
              <a:rPr lang="en-US" dirty="0"/>
              <a:t> during the planned maintenance time.</a:t>
            </a:r>
          </a:p>
          <a:p>
            <a:endParaRPr lang="en-US" dirty="0"/>
          </a:p>
          <a:p>
            <a:r>
              <a:rPr lang="en-US" dirty="0"/>
              <a:t>After that, we </a:t>
            </a:r>
            <a:r>
              <a:rPr lang="en-US" b="1" dirty="0"/>
              <a:t>verify</a:t>
            </a:r>
            <a:r>
              <a:rPr lang="en-US" dirty="0"/>
              <a:t> — is the network working correctly?</a:t>
            </a:r>
          </a:p>
          <a:p>
            <a:endParaRPr lang="en-US" dirty="0"/>
          </a:p>
          <a:p>
            <a:r>
              <a:rPr lang="en-US" dirty="0"/>
              <a:t>And finally, we keep a </a:t>
            </a:r>
            <a:r>
              <a:rPr lang="en-US" b="1" dirty="0"/>
              <a:t>rollback plan</a:t>
            </a:r>
            <a:r>
              <a:rPr lang="en-US" dirty="0"/>
              <a:t>. If something goes wrong, we can return to the previous configuration.</a:t>
            </a:r>
          </a:p>
          <a:p>
            <a:r>
              <a:rPr lang="en-US" dirty="0"/>
              <a:t>For example, before replacing a switch, we record its </a:t>
            </a:r>
            <a:r>
              <a:rPr lang="en-US" b="1" dirty="0"/>
              <a:t>current configuration, expected result, possible impact, and rollback plan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simple idea is:</a:t>
            </a:r>
          </a:p>
          <a:p>
            <a:r>
              <a:rPr lang="en-US" b="1" dirty="0"/>
              <a:t>Plan → Approve → Change → Verify → Roll back if needed.</a:t>
            </a:r>
            <a:endParaRPr lang="en-US" dirty="0"/>
          </a:p>
          <a:p>
            <a:r>
              <a:rPr lang="en-US" dirty="0"/>
              <a:t>This prevents a small network change from becoming a big network outage.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Configuration management is basically about knowing </a:t>
            </a:r>
            <a:r>
              <a:rPr lang="en-US" b="1" dirty="0"/>
              <a:t>what the network should look like</a:t>
            </a:r>
            <a:r>
              <a:rPr lang="en-US" dirty="0"/>
              <a:t> and </a:t>
            </a:r>
            <a:r>
              <a:rPr lang="en-US" b="1" dirty="0"/>
              <a:t>what it actually looks like</a:t>
            </a:r>
            <a:r>
              <a:rPr lang="en-US" dirty="0"/>
              <a:t>.</a:t>
            </a:r>
          </a:p>
          <a:p>
            <a:r>
              <a:rPr lang="en-US" dirty="0"/>
              <a:t>Let’s take a simple example.</a:t>
            </a:r>
          </a:p>
          <a:p>
            <a:r>
              <a:rPr lang="en-US" dirty="0"/>
              <a:t>Imagine we have a company switch. The approved configuration says </a:t>
            </a:r>
            <a:r>
              <a:rPr lang="en-US" b="1" dirty="0"/>
              <a:t>VLAN 10 should be on port 5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First, we check the </a:t>
            </a:r>
            <a:r>
              <a:rPr lang="en-US" b="1" dirty="0"/>
              <a:t>Current State</a:t>
            </a:r>
            <a:r>
              <a:rPr lang="en-US" dirty="0"/>
              <a:t> — what is configured on the switch right now?</a:t>
            </a:r>
          </a:p>
          <a:p>
            <a:r>
              <a:rPr lang="en-US" dirty="0"/>
              <a:t>Then we compare it with our </a:t>
            </a:r>
            <a:r>
              <a:rPr lang="en-US" b="1" dirty="0"/>
              <a:t>Known Good</a:t>
            </a:r>
            <a:r>
              <a:rPr lang="en-US" dirty="0"/>
              <a:t> configuration — what configuration do we expect?</a:t>
            </a:r>
          </a:p>
          <a:p>
            <a:endParaRPr lang="en-US" dirty="0"/>
          </a:p>
          <a:p>
            <a:r>
              <a:rPr lang="en-US" dirty="0"/>
              <a:t>Now suppose someone changes port 5 to VLAN 20 without telling us. That unexpected difference is called </a:t>
            </a:r>
            <a:r>
              <a:rPr lang="en-US" b="1" dirty="0"/>
              <a:t>configuration drift</a:t>
            </a:r>
            <a:r>
              <a:rPr lang="en-US" dirty="0"/>
              <a:t>.</a:t>
            </a:r>
          </a:p>
          <a:p>
            <a:r>
              <a:rPr lang="en-US" dirty="0"/>
              <a:t>So remember three simple questions: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Current State → What is there now?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Known Good → What should be there?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Drift → What changed unexpectedly?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is very useful when troubleshooting because sometimes the network problem is simply caused by a configuration change that nobody documented.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“Let’s make the difference very simple.</a:t>
            </a:r>
          </a:p>
          <a:p>
            <a:r>
              <a:rPr lang="en-US" dirty="0"/>
              <a:t>Think about our </a:t>
            </a:r>
            <a:r>
              <a:rPr lang="en-US" b="1" dirty="0"/>
              <a:t>switch port</a:t>
            </a:r>
            <a:r>
              <a:rPr lang="en-US" dirty="0"/>
              <a:t>.</a:t>
            </a:r>
          </a:p>
          <a:p>
            <a:r>
              <a:rPr lang="en-US" b="1" dirty="0"/>
              <a:t>Change Management</a:t>
            </a:r>
            <a:r>
              <a:rPr lang="en-US" dirty="0"/>
              <a:t> is about the </a:t>
            </a:r>
            <a:r>
              <a:rPr lang="en-US" b="1" dirty="0"/>
              <a:t>change event</a:t>
            </a:r>
            <a:r>
              <a:rPr lang="en-US" dirty="0"/>
              <a:t>.</a:t>
            </a:r>
          </a:p>
          <a:p>
            <a:r>
              <a:rPr lang="en-US" dirty="0"/>
              <a:t>For example, we want to move </a:t>
            </a:r>
            <a:r>
              <a:rPr lang="en-US" b="1" dirty="0"/>
              <a:t>Port 5 from VLAN 10 to VLAN 20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We ask: </a:t>
            </a:r>
            <a:r>
              <a:rPr lang="en-US" i="1" dirty="0"/>
              <a:t>Was this change requested, approved, performed, and verified?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Configuration Management</a:t>
            </a:r>
            <a:r>
              <a:rPr lang="en-US" dirty="0"/>
              <a:t> is about the </a:t>
            </a:r>
            <a:r>
              <a:rPr lang="en-US" b="1" dirty="0"/>
              <a:t>configuration itself</a:t>
            </a:r>
            <a:r>
              <a:rPr lang="en-US" dirty="0"/>
              <a:t>.</a:t>
            </a:r>
          </a:p>
          <a:p>
            <a:r>
              <a:rPr lang="en-US" dirty="0"/>
              <a:t>After the change, we check: </a:t>
            </a:r>
            <a:r>
              <a:rPr lang="en-US" i="1" dirty="0"/>
              <a:t>Is Port 5 actually in VLAN 20? Is that the configuration we expect?</a:t>
            </a:r>
            <a:endParaRPr lang="en-US" dirty="0"/>
          </a:p>
          <a:p>
            <a:endParaRPr lang="en-US" dirty="0"/>
          </a:p>
          <a:p>
            <a:r>
              <a:rPr lang="en-US" dirty="0"/>
              <a:t>So the easiest way to remember is:</a:t>
            </a:r>
          </a:p>
          <a:p>
            <a:r>
              <a:rPr lang="en-US" dirty="0"/>
              <a:t>👉 </a:t>
            </a:r>
            <a:r>
              <a:rPr lang="en-US" b="1" dirty="0"/>
              <a:t>Change Management = What changed?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Configuration Management = What is configured now?</a:t>
            </a:r>
            <a:endParaRPr lang="en-US" dirty="0"/>
          </a:p>
          <a:p>
            <a:endParaRPr lang="en-US" dirty="0"/>
          </a:p>
          <a:p>
            <a:r>
              <a:rPr lang="en-US" dirty="0"/>
              <a:t>For example, if someone changes Port 5 to VLAN 20 without approval, </a:t>
            </a:r>
            <a:r>
              <a:rPr lang="en-US" b="1" dirty="0"/>
              <a:t>Change Management</a:t>
            </a:r>
            <a:r>
              <a:rPr lang="en-US" dirty="0"/>
              <a:t> tells us that the change was unauthorized, while </a:t>
            </a:r>
            <a:r>
              <a:rPr lang="en-US" b="1" dirty="0"/>
              <a:t>Configuration Management</a:t>
            </a:r>
            <a:r>
              <a:rPr lang="en-US" dirty="0"/>
              <a:t> helps us detect that the port is no longer in its expected VLAN.</a:t>
            </a:r>
          </a:p>
          <a:p>
            <a:r>
              <a:rPr lang="en-US" dirty="0"/>
              <a:t>In short: </a:t>
            </a:r>
            <a:r>
              <a:rPr lang="en-US" b="1" dirty="0"/>
              <a:t>Change tracks the journey; Configuration tracks the state.</a:t>
            </a:r>
            <a:r>
              <a:rPr lang="en-US" dirty="0"/>
              <a:t>”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Let’s take a very simple example.</a:t>
            </a:r>
          </a:p>
          <a:p>
            <a:r>
              <a:rPr lang="en-US" dirty="0"/>
              <a:t>Imagine a user says, </a:t>
            </a:r>
            <a:r>
              <a:rPr lang="en-US" b="1" dirty="0"/>
              <a:t>‘The company application is very slow.’</a:t>
            </a:r>
            <a:r>
              <a:rPr lang="en-US" dirty="0"/>
              <a:t> That is our </a:t>
            </a:r>
            <a:r>
              <a:rPr lang="en-US" b="1" dirty="0"/>
              <a:t>symptom</a:t>
            </a:r>
            <a:r>
              <a:rPr lang="en-US" dirty="0"/>
              <a:t>. We don't immediately blame the server or the Internet.</a:t>
            </a:r>
          </a:p>
          <a:p>
            <a:endParaRPr lang="en-US" dirty="0"/>
          </a:p>
          <a:p>
            <a:r>
              <a:rPr lang="en-US" dirty="0"/>
              <a:t>First, we collect </a:t>
            </a:r>
            <a:r>
              <a:rPr lang="en-US" b="1" dirty="0"/>
              <a:t>evidence</a:t>
            </a:r>
            <a:r>
              <a:rPr lang="en-US" dirty="0"/>
              <a:t>.</a:t>
            </a:r>
          </a:p>
          <a:p>
            <a:r>
              <a:rPr lang="en-US" dirty="0"/>
              <a:t>We check the gateway — it is working normally. Then we use a tool like </a:t>
            </a:r>
            <a:r>
              <a:rPr lang="en-US" b="1" dirty="0"/>
              <a:t>traceroute</a:t>
            </a:r>
            <a:r>
              <a:rPr lang="en-US" dirty="0"/>
              <a:t> and notice that the delay starts after the traffic leaves our network and reaches the WAN.</a:t>
            </a:r>
          </a:p>
          <a:p>
            <a:endParaRPr lang="en-US" dirty="0"/>
          </a:p>
          <a:p>
            <a:r>
              <a:rPr lang="en-US" dirty="0"/>
              <a:t>Now we have a much better idea of the </a:t>
            </a:r>
            <a:r>
              <a:rPr lang="en-US" b="1" dirty="0"/>
              <a:t>fault domain</a:t>
            </a:r>
            <a:r>
              <a:rPr lang="en-US" dirty="0"/>
              <a:t>.</a:t>
            </a:r>
          </a:p>
          <a:p>
            <a:r>
              <a:rPr lang="en-US" dirty="0"/>
              <a:t>So our next </a:t>
            </a:r>
            <a:r>
              <a:rPr lang="en-US" b="1" dirty="0"/>
              <a:t>action</a:t>
            </a:r>
            <a:r>
              <a:rPr lang="en-US" dirty="0"/>
              <a:t> is to investigate the WAN — things like utilization, congestion, packet loss, or the provider path.</a:t>
            </a:r>
          </a:p>
          <a:p>
            <a:endParaRPr lang="en-US" dirty="0"/>
          </a:p>
          <a:p>
            <a:r>
              <a:rPr lang="en-US" dirty="0"/>
              <a:t>The important lesson is: </a:t>
            </a:r>
            <a:r>
              <a:rPr lang="en-US" b="1" dirty="0"/>
              <a:t>don't guess the problem; use monitoring evidence to narrow it down.</a:t>
            </a:r>
            <a:endParaRPr lang="en-US" dirty="0"/>
          </a:p>
          <a:p>
            <a:r>
              <a:rPr lang="en-US" dirty="0"/>
              <a:t>Think of the process as:</a:t>
            </a:r>
          </a:p>
          <a:p>
            <a:r>
              <a:rPr lang="en-US" b="1" dirty="0"/>
              <a:t>Symptom → Evidence → Fault Domain → Action</a:t>
            </a:r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1C2838"/>
                </a:solidFill>
              </a:defRPr>
            </a:pPr>
            <a:r>
              <a:rPr lang="en-US" dirty="0"/>
              <a:t>• DR prepares the organization to restore important services after disruption.</a:t>
            </a:r>
          </a:p>
          <a:p>
            <a:pPr>
              <a:spcAft>
                <a:spcPts val="1000"/>
              </a:spcAft>
              <a:defRPr sz="2000">
                <a:solidFill>
                  <a:srgbClr val="1C2838"/>
                </a:solidFill>
              </a:defRPr>
            </a:pPr>
            <a:r>
              <a:rPr lang="en-US" dirty="0"/>
              <a:t>• Start with business needs: acceptable data loss and recovery time.</a:t>
            </a:r>
          </a:p>
          <a:p>
            <a:pPr>
              <a:spcAft>
                <a:spcPts val="1000"/>
              </a:spcAft>
              <a:defRPr sz="2000">
                <a:solidFill>
                  <a:srgbClr val="1C2838"/>
                </a:solidFill>
              </a:defRPr>
            </a:pPr>
            <a:r>
              <a:rPr lang="en-US" dirty="0"/>
              <a:t>• Recovery design includes metrics, sites and high-availability approaches.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Now let’s look at four important </a:t>
            </a:r>
            <a:r>
              <a:rPr lang="en-US" b="1" dirty="0"/>
              <a:t>Disaster Recovery metrics</a:t>
            </a:r>
            <a:r>
              <a:rPr lang="en-US" dirty="0"/>
              <a:t>: </a:t>
            </a:r>
            <a:r>
              <a:rPr lang="en-US" b="1" dirty="0"/>
              <a:t>RPO, RTO, MTTR, and MTBF</a:t>
            </a:r>
            <a:r>
              <a:rPr lang="en-US" dirty="0"/>
              <a:t>.</a:t>
            </a:r>
          </a:p>
          <a:p>
            <a:r>
              <a:rPr lang="en-US" dirty="0"/>
              <a:t>Let’s take a simple example. Imagine our company’s </a:t>
            </a:r>
            <a:r>
              <a:rPr lang="en-US" b="1" dirty="0"/>
              <a:t>online shopping system</a:t>
            </a:r>
            <a:r>
              <a:rPr lang="en-US" dirty="0"/>
              <a:t> suddenly goes down.</a:t>
            </a:r>
          </a:p>
          <a:p>
            <a:endParaRPr lang="en-US" b="1" dirty="0"/>
          </a:p>
          <a:p>
            <a:r>
              <a:rPr lang="en-US" b="1" dirty="0"/>
              <a:t>RPO</a:t>
            </a:r>
            <a:r>
              <a:rPr lang="en-US" dirty="0"/>
              <a:t> asks: </a:t>
            </a:r>
            <a:r>
              <a:rPr lang="en-US" i="1" dirty="0"/>
              <a:t>How much data can we afford to lose?</a:t>
            </a:r>
            <a:br>
              <a:rPr lang="en-US" dirty="0"/>
            </a:br>
            <a:r>
              <a:rPr lang="en-US" dirty="0"/>
              <a:t>For example, if our RPO is </a:t>
            </a:r>
            <a:r>
              <a:rPr lang="en-US" b="1" dirty="0"/>
              <a:t>15 minutes</a:t>
            </a:r>
            <a:r>
              <a:rPr lang="en-US" dirty="0"/>
              <a:t>, we can accept losing up to 15 minutes of recent transactions.</a:t>
            </a:r>
          </a:p>
          <a:p>
            <a:endParaRPr lang="en-US" b="1" dirty="0"/>
          </a:p>
          <a:p>
            <a:r>
              <a:rPr lang="en-US" b="1" dirty="0"/>
              <a:t>RTO</a:t>
            </a:r>
            <a:r>
              <a:rPr lang="en-US" dirty="0"/>
              <a:t> asks: </a:t>
            </a:r>
            <a:r>
              <a:rPr lang="en-US" i="1" dirty="0"/>
              <a:t>How quickly must we bring the service back?</a:t>
            </a:r>
            <a:br>
              <a:rPr lang="en-US" dirty="0"/>
            </a:br>
            <a:r>
              <a:rPr lang="en-US" dirty="0"/>
              <a:t>For example, an RTO of </a:t>
            </a:r>
            <a:r>
              <a:rPr lang="en-US" b="1" dirty="0"/>
              <a:t>2 hours</a:t>
            </a:r>
            <a:r>
              <a:rPr lang="en-US" dirty="0"/>
              <a:t> means the shopping system should be restored within two hours.</a:t>
            </a:r>
          </a:p>
          <a:p>
            <a:endParaRPr lang="en-US" b="1" dirty="0"/>
          </a:p>
          <a:p>
            <a:r>
              <a:rPr lang="en-US" b="1" dirty="0"/>
              <a:t>MTTR</a:t>
            </a:r>
            <a:r>
              <a:rPr lang="en-US" dirty="0"/>
              <a:t> means </a:t>
            </a:r>
            <a:r>
              <a:rPr lang="en-US" b="1" dirty="0"/>
              <a:t>Mean Time to Repair</a:t>
            </a:r>
            <a:r>
              <a:rPr lang="en-US" dirty="0"/>
              <a:t>. It tells us how long it normally takes to fix or restore something after it fails.</a:t>
            </a:r>
            <a:br>
              <a:rPr lang="en-US" dirty="0"/>
            </a:br>
            <a:r>
              <a:rPr lang="en-US" dirty="0"/>
              <a:t>For example, if repairs normally take </a:t>
            </a:r>
            <a:r>
              <a:rPr lang="en-US" b="1" dirty="0"/>
              <a:t>45 minutes</a:t>
            </a:r>
            <a:r>
              <a:rPr lang="en-US" dirty="0"/>
              <a:t>, our MTTR is 45 minutes.</a:t>
            </a:r>
          </a:p>
          <a:p>
            <a:endParaRPr lang="en-US" dirty="0"/>
          </a:p>
          <a:p>
            <a:r>
              <a:rPr lang="en-US" dirty="0"/>
              <a:t>Finally, </a:t>
            </a:r>
            <a:r>
              <a:rPr lang="en-US" b="1" dirty="0"/>
              <a:t>MTBF</a:t>
            </a:r>
            <a:r>
              <a:rPr lang="en-US" dirty="0"/>
              <a:t> means </a:t>
            </a:r>
            <a:r>
              <a:rPr lang="en-US" b="1" dirty="0"/>
              <a:t>Mean Time Between Failures</a:t>
            </a:r>
            <a:r>
              <a:rPr lang="en-US" dirty="0"/>
              <a:t>. It tells us how often something fails.</a:t>
            </a:r>
            <a:br>
              <a:rPr lang="en-US" dirty="0"/>
            </a:br>
            <a:r>
              <a:rPr lang="en-US" dirty="0"/>
              <a:t>For example, if a server normally runs for </a:t>
            </a:r>
            <a:r>
              <a:rPr lang="en-US" b="1" dirty="0"/>
              <a:t>30 days before a failure</a:t>
            </a:r>
            <a:r>
              <a:rPr lang="en-US" dirty="0"/>
              <a:t>, its MTBF is 30 days.</a:t>
            </a:r>
          </a:p>
          <a:p>
            <a:endParaRPr lang="en-US" dirty="0"/>
          </a:p>
          <a:p>
            <a:r>
              <a:rPr lang="en-US" dirty="0"/>
              <a:t>So, an easy way to remember them is:</a:t>
            </a:r>
          </a:p>
          <a:p>
            <a:r>
              <a:rPr lang="en-US" b="1" dirty="0"/>
              <a:t>RPO → How much data can we lose?</a:t>
            </a:r>
            <a:br>
              <a:rPr lang="en-US" dirty="0"/>
            </a:br>
            <a:r>
              <a:rPr lang="en-US" b="1" dirty="0"/>
              <a:t>RTO → How fast must we recover?</a:t>
            </a:r>
            <a:br>
              <a:rPr lang="en-US" dirty="0"/>
            </a:br>
            <a:r>
              <a:rPr lang="en-US" b="1" dirty="0"/>
              <a:t>MTTR → How fast do we fix it?</a:t>
            </a:r>
            <a:br>
              <a:rPr lang="en-US" dirty="0"/>
            </a:br>
            <a:r>
              <a:rPr lang="en-US" b="1" dirty="0"/>
              <a:t>MTBF → How often does it fail?</a:t>
            </a:r>
            <a:endParaRPr lang="en-US" dirty="0"/>
          </a:p>
          <a:p>
            <a:r>
              <a:rPr lang="en-US" dirty="0"/>
              <a:t>These metrics help the organization decide </a:t>
            </a:r>
            <a:r>
              <a:rPr lang="en-US" b="1" dirty="0"/>
              <a:t>how much protection and recovery capability it really needs</a:t>
            </a:r>
            <a:r>
              <a:rPr lang="en-US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rPr lang="en-US" dirty="0"/>
              <a:t>• Redundancy reduces single points of failure.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rPr lang="en-US" dirty="0"/>
              <a:t>• Examples: redundant links, devices, power and gateway services.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rPr lang="en-US" dirty="0"/>
              <a:t>• Goal: keep service available while a failed component is repaired.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4565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Let’s put everything we have learned into a </a:t>
            </a:r>
            <a:r>
              <a:rPr lang="en-US" b="1" dirty="0"/>
              <a:t>small office example</a:t>
            </a:r>
            <a:r>
              <a:rPr lang="en-US" dirty="0"/>
              <a:t>.</a:t>
            </a:r>
          </a:p>
          <a:p>
            <a:r>
              <a:rPr lang="en-US" dirty="0"/>
              <a:t>Imagine a company with </a:t>
            </a:r>
            <a:r>
              <a:rPr lang="en-US" b="1" dirty="0"/>
              <a:t>20 employees</a:t>
            </a:r>
            <a:r>
              <a:rPr lang="en-US" dirty="0"/>
              <a:t>. All the users connect to a </a:t>
            </a:r>
            <a:r>
              <a:rPr lang="en-US" b="1" dirty="0"/>
              <a:t>switch</a:t>
            </a:r>
            <a:r>
              <a:rPr lang="en-US" dirty="0"/>
              <a:t>. The switch connects to the </a:t>
            </a:r>
            <a:r>
              <a:rPr lang="en-US" b="1" dirty="0"/>
              <a:t>router</a:t>
            </a:r>
            <a:r>
              <a:rPr lang="en-US" dirty="0"/>
              <a:t>, and the router provides Internet access to a cloud application.</a:t>
            </a:r>
          </a:p>
          <a:p>
            <a:endParaRPr lang="en-US" dirty="0"/>
          </a:p>
          <a:p>
            <a:r>
              <a:rPr lang="en-US" dirty="0"/>
              <a:t>Now, as the network administrator, what do we need to do?</a:t>
            </a:r>
          </a:p>
          <a:p>
            <a:r>
              <a:rPr lang="en-US" dirty="0"/>
              <a:t>First, we </a:t>
            </a:r>
            <a:r>
              <a:rPr lang="en-US" b="1" dirty="0"/>
              <a:t>document</a:t>
            </a:r>
            <a:r>
              <a:rPr lang="en-US" dirty="0"/>
              <a:t> the network — which devices exist, their IP addresses, and how they are connected.</a:t>
            </a:r>
          </a:p>
          <a:p>
            <a:endParaRPr lang="en-US" dirty="0"/>
          </a:p>
          <a:p>
            <a:r>
              <a:rPr lang="en-US" dirty="0"/>
              <a:t>Next, we establish some </a:t>
            </a:r>
            <a:r>
              <a:rPr lang="en-US" b="1" dirty="0"/>
              <a:t>normal tests</a:t>
            </a:r>
            <a:r>
              <a:rPr lang="en-US" dirty="0"/>
              <a:t>. For example, can a PC reach its gateway? Can it reach the company’s cloud application?</a:t>
            </a:r>
          </a:p>
          <a:p>
            <a:r>
              <a:rPr lang="en-US" dirty="0"/>
              <a:t>Then we </a:t>
            </a:r>
            <a:r>
              <a:rPr lang="en-US" b="1" dirty="0"/>
              <a:t>monitor</a:t>
            </a:r>
            <a:r>
              <a:rPr lang="en-US" dirty="0"/>
              <a:t> the network. We can check whether users are experiencing high latency or losing connectivity.</a:t>
            </a:r>
          </a:p>
          <a:p>
            <a:endParaRPr lang="en-US" dirty="0"/>
          </a:p>
          <a:p>
            <a:r>
              <a:rPr lang="en-US" dirty="0"/>
              <a:t>Now imagine one employee says, </a:t>
            </a:r>
            <a:r>
              <a:rPr lang="en-US" i="1" dirty="0"/>
              <a:t>‘I can't access the cloud application.’</a:t>
            </a:r>
            <a:endParaRPr lang="en-US" dirty="0"/>
          </a:p>
          <a:p>
            <a:r>
              <a:rPr lang="en-US" dirty="0"/>
              <a:t>Instead of immediately blaming the cloud application, we check the basics:</a:t>
            </a:r>
          </a:p>
          <a:p>
            <a:r>
              <a:rPr lang="en-US" b="1" dirty="0"/>
              <a:t>Does the PC have a valid IP? → Is DHCP working? → Is DNS resolving the application name? → Can the PC reach the gateway? → Can it reach the Internet?</a:t>
            </a:r>
            <a:endParaRPr lang="en-US" dirty="0"/>
          </a:p>
          <a:p>
            <a:endParaRPr lang="en-US" dirty="0"/>
          </a:p>
          <a:p>
            <a:r>
              <a:rPr lang="en-US" dirty="0"/>
              <a:t>If the gateway works but the cloud application does not, we have narrowed down where to investigate.</a:t>
            </a:r>
          </a:p>
          <a:p>
            <a:endParaRPr lang="en-US" dirty="0"/>
          </a:p>
          <a:p>
            <a:r>
              <a:rPr lang="en-US" dirty="0"/>
              <a:t>So the big operational lesson is:</a:t>
            </a:r>
          </a:p>
          <a:p>
            <a:r>
              <a:rPr lang="en-US" b="1" dirty="0"/>
              <a:t>Document → Test → Monitor → Troubleshoot using evidence.</a:t>
            </a:r>
            <a:endParaRPr lang="en-US" dirty="0"/>
          </a:p>
          <a:p>
            <a:r>
              <a:rPr lang="en-US" dirty="0"/>
              <a:t>Good network operations are not just about fixing problems — they are about </a:t>
            </a:r>
            <a:r>
              <a:rPr lang="en-US" b="1" dirty="0"/>
              <a:t>knowing what normal looks like so we can quickly recognize what has changed.</a:t>
            </a:r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Now we are going to put everything from today together.</a:t>
            </a:r>
          </a:p>
          <a:p>
            <a:r>
              <a:rPr lang="en-US" dirty="0"/>
              <a:t>Imagine you are the network administrator for a small company. Users are complaining that they cannot reliably access a cloud application.</a:t>
            </a:r>
          </a:p>
          <a:p>
            <a:r>
              <a:rPr lang="en-US" dirty="0"/>
              <a:t>Your job is </a:t>
            </a:r>
            <a:r>
              <a:rPr lang="en-US" b="1" dirty="0"/>
              <a:t>not to immediately change something</a:t>
            </a:r>
            <a:r>
              <a:rPr lang="en-US" dirty="0"/>
              <a:t>. First, you need evidence.</a:t>
            </a:r>
          </a:p>
          <a:p>
            <a:r>
              <a:rPr lang="en-US" dirty="0"/>
              <a:t>Start by </a:t>
            </a:r>
            <a:r>
              <a:rPr lang="en-US" b="1" dirty="0"/>
              <a:t>documenting</a:t>
            </a:r>
            <a:r>
              <a:rPr lang="en-US" dirty="0"/>
              <a:t> the current network — devices, IP addresses, VLANs and connections.</a:t>
            </a:r>
          </a:p>
          <a:p>
            <a:r>
              <a:rPr lang="en-US" dirty="0"/>
              <a:t>Next, establish a </a:t>
            </a:r>
            <a:r>
              <a:rPr lang="en-US" b="1" dirty="0"/>
              <a:t>baseline</a:t>
            </a:r>
            <a:r>
              <a:rPr lang="en-US" dirty="0"/>
              <a:t>. Check what normally works: gateway connectivity, DNS, Internet access and application reachability.</a:t>
            </a:r>
          </a:p>
          <a:p>
            <a:r>
              <a:rPr lang="en-US" dirty="0"/>
              <a:t>Then </a:t>
            </a:r>
            <a:r>
              <a:rPr lang="en-US" b="1" dirty="0"/>
              <a:t>test the problem</a:t>
            </a:r>
            <a:r>
              <a:rPr lang="en-US" dirty="0"/>
              <a:t>. Use tools such as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ping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tracert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ipconfig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nslookup</a:t>
            </a:r>
            <a:r>
              <a:rPr lang="en-US" dirty="0"/>
              <a:t>, and connection information to find where the problem occurs.</a:t>
            </a:r>
          </a:p>
          <a:p>
            <a:r>
              <a:rPr lang="en-US" dirty="0"/>
              <a:t>Suppose you discover that a switch port was accidentally placed in the wrong VLAN.</a:t>
            </a:r>
          </a:p>
          <a:p>
            <a:r>
              <a:rPr lang="en-US" dirty="0"/>
              <a:t>Now comes the important part: </a:t>
            </a:r>
            <a:r>
              <a:rPr lang="en-US" b="1" dirty="0"/>
              <a:t>don't just change it</a:t>
            </a:r>
            <a:r>
              <a:rPr lang="en-US" dirty="0"/>
              <a:t>. Make sure the change is approved, record the current configuration, make the change, and then verify the result.</a:t>
            </a:r>
          </a:p>
          <a:p>
            <a:r>
              <a:rPr lang="en-US" dirty="0"/>
              <a:t>If everything works, document what you changed.</a:t>
            </a:r>
          </a:p>
          <a:p>
            <a:r>
              <a:rPr lang="en-US" dirty="0"/>
              <a:t>But what if the application still doesn't work?</a:t>
            </a:r>
          </a:p>
          <a:p>
            <a:r>
              <a:rPr lang="en-US" dirty="0"/>
              <a:t>That's where the </a:t>
            </a:r>
            <a:r>
              <a:rPr lang="en-US" b="1" dirty="0"/>
              <a:t>DR and rollback plan</a:t>
            </a:r>
            <a:r>
              <a:rPr lang="en-US" dirty="0"/>
              <a:t> becomes important. Restore the known-good configuration and verify that the service is working again.</a:t>
            </a:r>
          </a:p>
          <a:p>
            <a:r>
              <a:rPr lang="en-US" dirty="0"/>
              <a:t>So I want you to remember this complete flow:</a:t>
            </a:r>
          </a:p>
          <a:p>
            <a:r>
              <a:rPr lang="en-US" b="1" dirty="0"/>
              <a:t>Document → Baseline → Test → Change → Verify → Recover → Manage</a:t>
            </a:r>
            <a:endParaRPr lang="en-US" dirty="0"/>
          </a:p>
          <a:p>
            <a:endParaRPr lang="en-US"/>
          </a:p>
          <a:p>
            <a:r>
              <a:rPr lang="en-US"/>
              <a:t>You </a:t>
            </a:r>
            <a:r>
              <a:rPr lang="en-US" dirty="0"/>
              <a:t>are no longer just troubleshooting one device. You are managing the </a:t>
            </a:r>
            <a:r>
              <a:rPr lang="en-US" b="1" dirty="0"/>
              <a:t>network as an operational system</a:t>
            </a:r>
            <a:r>
              <a:rPr lang="en-US" dirty="0"/>
              <a:t>.”</a:t>
            </a:r>
          </a:p>
          <a:p>
            <a:r>
              <a:rPr lang="en-US" b="1" dirty="0"/>
              <a:t>🧪 Give learners this scenario</a:t>
            </a:r>
          </a:p>
          <a:p>
            <a:r>
              <a:rPr lang="en-US" b="1" dirty="0"/>
              <a:t>Company:</a:t>
            </a:r>
            <a:r>
              <a:rPr lang="en-US" dirty="0"/>
              <a:t> ABC Office</a:t>
            </a:r>
            <a:br>
              <a:rPr lang="en-US" dirty="0"/>
            </a:br>
            <a:r>
              <a:rPr lang="en-US" b="1" dirty="0"/>
              <a:t>Users:</a:t>
            </a:r>
            <a:r>
              <a:rPr lang="en-US" dirty="0"/>
              <a:t> 20</a:t>
            </a:r>
            <a:br>
              <a:rPr lang="en-US" dirty="0"/>
            </a:br>
            <a:r>
              <a:rPr lang="en-US" b="1" dirty="0"/>
              <a:t>Problem:</a:t>
            </a:r>
            <a:r>
              <a:rPr lang="en-US" dirty="0"/>
              <a:t> Cloud application is unreachable for some users</a:t>
            </a:r>
          </a:p>
          <a:p>
            <a:r>
              <a:rPr lang="en-US" dirty="0"/>
              <a:t>Give them this task:</a:t>
            </a:r>
          </a:p>
          <a:p>
            <a:r>
              <a:rPr lang="en-US" dirty="0"/>
              <a:t>Step</a:t>
            </a:r>
          </a:p>
          <a:p>
            <a:r>
              <a:rPr lang="en-US" dirty="0"/>
              <a:t>Learner must do</a:t>
            </a:r>
          </a:p>
          <a:p>
            <a:r>
              <a:rPr lang="en-US" b="1" dirty="0"/>
              <a:t>1. </a:t>
            </a:r>
            <a:r>
              <a:rPr lang="en-US" b="1" dirty="0" err="1"/>
              <a:t>Document</a:t>
            </a:r>
            <a:r>
              <a:rPr lang="en-US" dirty="0" err="1"/>
              <a:t>Identify</a:t>
            </a:r>
            <a:r>
              <a:rPr lang="en-US" dirty="0"/>
              <a:t> devices, IPs, VLANs and links</a:t>
            </a:r>
          </a:p>
          <a:p>
            <a:r>
              <a:rPr lang="en-US" b="1" dirty="0"/>
              <a:t>2. </a:t>
            </a:r>
            <a:r>
              <a:rPr lang="en-US" b="1" dirty="0" err="1"/>
              <a:t>Baseline</a:t>
            </a:r>
            <a:r>
              <a:rPr lang="en-US" dirty="0" err="1"/>
              <a:t>Record</a:t>
            </a:r>
            <a:r>
              <a:rPr lang="en-US" dirty="0"/>
              <a:t> normal gateway/DNS/Internet results</a:t>
            </a:r>
          </a:p>
          <a:p>
            <a:r>
              <a:rPr lang="en-US" b="1" dirty="0"/>
              <a:t>3. </a:t>
            </a:r>
            <a:r>
              <a:rPr lang="en-US" b="1" dirty="0" err="1"/>
              <a:t>Test</a:t>
            </a:r>
            <a:r>
              <a:rPr lang="en-US" dirty="0" err="1"/>
              <a:t>Find</a:t>
            </a:r>
            <a:r>
              <a:rPr lang="en-US" dirty="0"/>
              <a:t> where connectivity fails</a:t>
            </a:r>
          </a:p>
          <a:p>
            <a:r>
              <a:rPr lang="en-US" b="1" dirty="0"/>
              <a:t>4. </a:t>
            </a:r>
            <a:r>
              <a:rPr lang="en-US" b="1" dirty="0" err="1"/>
              <a:t>Change</a:t>
            </a:r>
            <a:r>
              <a:rPr lang="en-US" dirty="0" err="1"/>
              <a:t>Correct</a:t>
            </a:r>
            <a:r>
              <a:rPr lang="en-US" dirty="0"/>
              <a:t> the suspected VLAN/configuration issue</a:t>
            </a:r>
          </a:p>
          <a:p>
            <a:r>
              <a:rPr lang="en-US" b="1" dirty="0"/>
              <a:t>5. </a:t>
            </a:r>
            <a:r>
              <a:rPr lang="en-US" b="1" dirty="0" err="1"/>
              <a:t>Verify</a:t>
            </a:r>
            <a:r>
              <a:rPr lang="en-US" dirty="0" err="1"/>
              <a:t>Test</a:t>
            </a:r>
            <a:r>
              <a:rPr lang="en-US" dirty="0"/>
              <a:t> gateway → Internet → cloud app</a:t>
            </a:r>
          </a:p>
          <a:p>
            <a:r>
              <a:rPr lang="en-US" b="1" dirty="0"/>
              <a:t>6. DR </a:t>
            </a:r>
            <a:r>
              <a:rPr lang="en-US" b="1" dirty="0" err="1"/>
              <a:t>Plan</a:t>
            </a:r>
            <a:r>
              <a:rPr lang="en-US" dirty="0" err="1"/>
              <a:t>Decide</a:t>
            </a:r>
            <a:r>
              <a:rPr lang="en-US" dirty="0"/>
              <a:t> what to restore if the change fails</a:t>
            </a:r>
          </a:p>
          <a:p>
            <a:r>
              <a:rPr lang="en-US" b="1" dirty="0"/>
              <a:t>7. </a:t>
            </a:r>
            <a:r>
              <a:rPr lang="en-US" b="1" dirty="0" err="1"/>
              <a:t>Manage</a:t>
            </a:r>
            <a:r>
              <a:rPr lang="en-US" dirty="0" err="1"/>
              <a:t>Record</a:t>
            </a:r>
            <a:r>
              <a:rPr lang="en-US" dirty="0"/>
              <a:t> the final change and result</a:t>
            </a:r>
          </a:p>
          <a:p>
            <a:r>
              <a:rPr lang="en-US" b="1" dirty="0"/>
              <a:t>💡 Trainer tip</a:t>
            </a:r>
          </a:p>
          <a:p>
            <a:r>
              <a:rPr lang="en-US" dirty="0"/>
              <a:t>Tell learners:</a:t>
            </a:r>
          </a:p>
          <a:p>
            <a:r>
              <a:rPr lang="en-US" b="1" dirty="0"/>
              <a:t>“I don't want the answer first. I want your evidence first.”</a:t>
            </a:r>
            <a:endParaRPr lang="en-US" dirty="0"/>
          </a:p>
          <a:p>
            <a:r>
              <a:rPr lang="en-US" dirty="0"/>
              <a:t>That makes this a much better </a:t>
            </a:r>
            <a:r>
              <a:rPr lang="en-US" b="1" dirty="0"/>
              <a:t>Network+ practical assessment</a:t>
            </a:r>
            <a:r>
              <a:rPr lang="en-US" dirty="0"/>
              <a:t>, because students practice the mindset of a real network administrator rather than simply memorizing commands.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CompTIA Network+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</a:defRPr>
            </a:pPr>
            <a:r>
              <a:t>Day 3 — Network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D6FB4"/>
                </a:solidFill>
              </a:defRPr>
            </a:pPr>
            <a:r>
              <a:t>Document • Monitor • Recover • Operate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Day 3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</a:defRPr>
            </a:pPr>
            <a:r>
              <a:t>Network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C2838"/>
                </a:solidFill>
              </a:defRPr>
            </a:pPr>
            <a:r>
              <a:t>• Explain documentation, life-cycle, change and configuration management.</a:t>
            </a:r>
          </a:p>
          <a:p>
            <a:pPr>
              <a:spcAft>
                <a:spcPts val="1000"/>
              </a:spcAft>
              <a:defRPr sz="1900">
                <a:solidFill>
                  <a:srgbClr val="1C2838"/>
                </a:solidFill>
              </a:defRPr>
            </a:pPr>
            <a:r>
              <a:t>• Use monitoring methods and interpret evidence.</a:t>
            </a:r>
          </a:p>
          <a:p>
            <a:pPr>
              <a:spcAft>
                <a:spcPts val="1000"/>
              </a:spcAft>
              <a:defRPr sz="1900">
                <a:solidFill>
                  <a:srgbClr val="1C2838"/>
                </a:solidFill>
              </a:defRPr>
            </a:pPr>
            <a:r>
              <a:t>• Explain RPO, RTO, MTTR, MTBF, DR sites and high availability.</a:t>
            </a:r>
          </a:p>
          <a:p>
            <a:pPr>
              <a:spcAft>
                <a:spcPts val="1000"/>
              </a:spcAft>
              <a:defRPr sz="1900">
                <a:solidFill>
                  <a:srgbClr val="1C2838"/>
                </a:solidFill>
              </a:defRPr>
            </a:pPr>
            <a:r>
              <a:t>• Implement/verify DHCP, DNS, IPv6 and time services.</a:t>
            </a:r>
          </a:p>
          <a:p>
            <a:pPr>
              <a:spcAft>
                <a:spcPts val="1000"/>
              </a:spcAft>
              <a:defRPr sz="1900">
                <a:solidFill>
                  <a:srgbClr val="1C2838"/>
                </a:solidFill>
              </a:defRPr>
            </a:pPr>
            <a:r>
              <a:t>• Explain VPNs, jump hosts, and in-band vs. out-of-band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Network Operations — The Big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240280"/>
            <a:ext cx="1227582" cy="749808"/>
          </a:xfrm>
          <a:prstGeom prst="roundRect">
            <a:avLst/>
          </a:prstGeom>
          <a:solidFill>
            <a:srgbClr val="2D6FB4"/>
          </a:solidFill>
          <a:ln>
            <a:solidFill>
              <a:srgbClr val="2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DISCOVER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6534" y="2240280"/>
            <a:ext cx="1227582" cy="749808"/>
          </a:xfrm>
          <a:prstGeom prst="roundRect">
            <a:avLst/>
          </a:prstGeom>
          <a:solidFill>
            <a:srgbClr val="2D845B"/>
          </a:solidFill>
          <a:ln>
            <a:solidFill>
              <a:srgbClr val="2D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8708" y="2240280"/>
            <a:ext cx="1227582" cy="749808"/>
          </a:xfrm>
          <a:prstGeom prst="roundRect">
            <a:avLst/>
          </a:prstGeom>
          <a:solidFill>
            <a:srgbClr val="2D6FB4"/>
          </a:solidFill>
          <a:ln>
            <a:solidFill>
              <a:srgbClr val="2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70882" y="2240280"/>
            <a:ext cx="1227582" cy="749808"/>
          </a:xfrm>
          <a:prstGeom prst="roundRect">
            <a:avLst/>
          </a:prstGeom>
          <a:solidFill>
            <a:srgbClr val="E07E22"/>
          </a:solidFill>
          <a:ln>
            <a:solidFill>
              <a:srgbClr val="E0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6" y="2240280"/>
            <a:ext cx="1227582" cy="749808"/>
          </a:xfrm>
          <a:prstGeom prst="roundRect">
            <a:avLst/>
          </a:prstGeom>
          <a:solidFill>
            <a:srgbClr val="6948A0"/>
          </a:solidFill>
          <a:ln>
            <a:solidFill>
              <a:srgbClr val="694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55229" y="2240280"/>
            <a:ext cx="1227582" cy="749808"/>
          </a:xfrm>
          <a:prstGeom prst="roundRect">
            <a:avLst/>
          </a:prstGeom>
          <a:solidFill>
            <a:srgbClr val="2D845B"/>
          </a:solidFill>
          <a:ln>
            <a:solidFill>
              <a:srgbClr val="2D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VERIFY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7404" y="2240280"/>
            <a:ext cx="1227582" cy="749808"/>
          </a:xfrm>
          <a:prstGeom prst="round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RECOVER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9578" y="2240280"/>
            <a:ext cx="1227582" cy="749808"/>
          </a:xfrm>
          <a:prstGeom prst="roundRect">
            <a:avLst/>
          </a:prstGeom>
          <a:solidFill>
            <a:srgbClr val="2D6FB4"/>
          </a:solidFill>
          <a:ln>
            <a:solidFill>
              <a:srgbClr val="2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DOCUMENT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749039"/>
            <a:ext cx="841248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28800" y="3749039"/>
            <a:ext cx="64008" cy="132588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29968" y="3931920"/>
            <a:ext cx="8046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Mental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4462272"/>
            <a:ext cx="804671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Good operations make the network easier to understand today — and easier to troubleshoot tomorrow.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3.1 Organizational Processes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</a:defRPr>
            </a:pPr>
            <a:r>
              <a:t>Why processes matter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60604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3474720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087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39112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What exists?</a:t>
            </a:r>
          </a:p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Where is it?</a:t>
            </a:r>
          </a:p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How is it connected?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60604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0" y="1325880"/>
            <a:ext cx="64008" cy="347472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5887" y="15087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Life-cycle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039112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Plan → deploy → operate → maintain → retire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260604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64008" cy="3474720"/>
          </a:xfrm>
          <a:prstGeom prst="rect">
            <a:avLst/>
          </a:prstGeom>
          <a:solidFill>
            <a:srgbClr val="E0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5087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039112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What? Why? Impact?</a:t>
            </a:r>
          </a:p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Rollback?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325880"/>
            <a:ext cx="233172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0" y="1325880"/>
            <a:ext cx="64008" cy="3474720"/>
          </a:xfrm>
          <a:prstGeom prst="rect">
            <a:avLst/>
          </a:prstGeom>
          <a:solidFill>
            <a:srgbClr val="694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45168" y="150876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2039112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What settings are active?</a:t>
            </a:r>
          </a:p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What changed?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Network Documentation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64008" cy="3566160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Logical/physical diagram</a:t>
            </a:r>
          </a:p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Links &amp; interfaces</a:t>
            </a:r>
          </a:p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VLANs &amp; subnets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64008" cy="356616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Device</a:t>
            </a:r>
          </a:p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Hostname</a:t>
            </a:r>
          </a:p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Role</a:t>
            </a:r>
          </a:p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Management 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64008" cy="3566160"/>
          </a:xfrm>
          <a:prstGeom prst="rect">
            <a:avLst/>
          </a:prstGeom>
          <a:solidFill>
            <a:srgbClr val="E0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Ports</a:t>
            </a:r>
          </a:p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Labels</a:t>
            </a:r>
          </a:p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Addressing</a:t>
            </a:r>
          </a:p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Services</a:t>
            </a:r>
          </a:p>
          <a:p>
            <a:pPr>
              <a:spcAft>
                <a:spcPts val="700"/>
              </a:spcAft>
              <a:defRPr sz="1600">
                <a:solidFill>
                  <a:srgbClr val="1C2838"/>
                </a:solidFill>
              </a:defRPr>
            </a:pPr>
            <a:r>
              <a:t>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Baseline — Know the Normal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6492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C2838"/>
                </a:solidFill>
              </a:defRPr>
            </a:pPr>
            <a:r>
              <a:t>• Baseline = a recorded picture of normal behavior.</a:t>
            </a:r>
          </a:p>
          <a:p>
            <a:pPr>
              <a:spcAft>
                <a:spcPts val="1000"/>
              </a:spcAft>
              <a:defRPr sz="1900">
                <a:solidFill>
                  <a:srgbClr val="1C2838"/>
                </a:solidFill>
              </a:defRPr>
            </a:pPr>
            <a:r>
              <a:t>• Capture reachability, latency, interface state and service status.</a:t>
            </a:r>
          </a:p>
          <a:p>
            <a:pPr>
              <a:spcAft>
                <a:spcPts val="1000"/>
              </a:spcAft>
              <a:defRPr sz="1900">
                <a:solidFill>
                  <a:srgbClr val="1C2838"/>
                </a:solidFill>
              </a:defRPr>
            </a:pPr>
            <a:r>
              <a:t>• Compare future measurements with the baseline.</a:t>
            </a:r>
          </a:p>
          <a:p>
            <a:pPr>
              <a:spcAft>
                <a:spcPts val="1000"/>
              </a:spcAft>
              <a:defRPr sz="1900">
                <a:solidFill>
                  <a:srgbClr val="1C2838"/>
                </a:solidFill>
              </a:defRPr>
            </a:pPr>
            <a:r>
              <a:t>• Without a baseline, 'unusual' is difficult to prove.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371600"/>
            <a:ext cx="3840480" cy="329184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79" y="1371600"/>
            <a:ext cx="64008" cy="329184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99248" y="155448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9248" y="2084832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Gateway ping: ~2 ms</a:t>
            </a:r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Remote ping: ~25 ms</a:t>
            </a:r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Interface: UP</a:t>
            </a:r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DNS: resolves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Change Management — Controlled Change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148840"/>
            <a:ext cx="1691639" cy="749808"/>
          </a:xfrm>
          <a:prstGeom prst="roundRect">
            <a:avLst/>
          </a:prstGeom>
          <a:solidFill>
            <a:srgbClr val="2D6FB4"/>
          </a:solidFill>
          <a:ln>
            <a:solidFill>
              <a:srgbClr val="2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50591" y="2148840"/>
            <a:ext cx="1691639" cy="749808"/>
          </a:xfrm>
          <a:prstGeom prst="roundRect">
            <a:avLst/>
          </a:prstGeom>
          <a:solidFill>
            <a:srgbClr val="E07E22"/>
          </a:solidFill>
          <a:ln>
            <a:solidFill>
              <a:srgbClr val="E0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ASSESS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06824" y="2148840"/>
            <a:ext cx="1691639" cy="749808"/>
          </a:xfrm>
          <a:prstGeom prst="roundRect">
            <a:avLst/>
          </a:prstGeom>
          <a:solidFill>
            <a:srgbClr val="2D845B"/>
          </a:solidFill>
          <a:ln>
            <a:solidFill>
              <a:srgbClr val="2D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APPROVE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2148840"/>
            <a:ext cx="1691639" cy="749808"/>
          </a:xfrm>
          <a:prstGeom prst="roundRect">
            <a:avLst/>
          </a:prstGeom>
          <a:solidFill>
            <a:srgbClr val="6948A0"/>
          </a:solidFill>
          <a:ln>
            <a:solidFill>
              <a:srgbClr val="694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8" y="2148840"/>
            <a:ext cx="1691639" cy="749808"/>
          </a:xfrm>
          <a:prstGeom prst="roundRect">
            <a:avLst/>
          </a:prstGeom>
          <a:solidFill>
            <a:srgbClr val="2D845B"/>
          </a:solidFill>
          <a:ln>
            <a:solidFill>
              <a:srgbClr val="2D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VERIFY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19" y="2148840"/>
            <a:ext cx="1691639" cy="749808"/>
          </a:xfrm>
          <a:prstGeom prst="round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57600"/>
            <a:ext cx="841248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0" y="3657600"/>
            <a:ext cx="64008" cy="1325880"/>
          </a:xfrm>
          <a:prstGeom prst="rect">
            <a:avLst/>
          </a:prstGeom>
          <a:solidFill>
            <a:srgbClr val="E0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29968" y="3840480"/>
            <a:ext cx="8046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Before the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4370832"/>
            <a:ext cx="804671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Record current state • expected result • impact • rollback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Configuration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64008" cy="3566160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Current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What configuration is active now?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64008" cy="356616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Known Good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What configuration should be active?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64008" cy="35661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What changed unexpectedly?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Change vs Configuration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4008" cy="3566160"/>
          </a:xfrm>
          <a:prstGeom prst="rect">
            <a:avLst/>
          </a:prstGeom>
          <a:solidFill>
            <a:srgbClr val="E0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Change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84832"/>
            <a:ext cx="475487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Focus: the change event</a:t>
            </a:r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Example: move a port from VLAN 10 to VLAN 20.</a:t>
            </a:r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Was it planned, approved and verified?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512064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64008" cy="3566160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6248" y="155448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Configuration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084832"/>
            <a:ext cx="475487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Focus: configuration state</a:t>
            </a:r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Example: track VLAN membership and interface settings.</a:t>
            </a:r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Does current state match intended state?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rPr dirty="0"/>
              <a:t>3.2 Network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40087" y="650337"/>
            <a:ext cx="465056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</a:defRPr>
            </a:pPr>
            <a:r>
              <a:rPr sz="2000" b="1" dirty="0">
                <a:solidFill>
                  <a:srgbClr val="FF0000"/>
                </a:solidFill>
              </a:rPr>
              <a:t>Monitoring turns symptoms into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10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14BEAFE-34B7-D012-C5B1-B5F76A6A6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3646"/>
            <a:ext cx="12192000" cy="54268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Monitoring Methods — Simple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99926"/>
            <a:ext cx="7938755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rPr dirty="0"/>
              <a:t>• Ping → reachability and basic latency.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rPr dirty="0"/>
              <a:t>• Tracert / traceroute → path and hop clues.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rPr dirty="0"/>
              <a:t>• Netstat / ss → local connections and listening services.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rPr dirty="0"/>
              <a:t>• SNMP → device health and interface information in managed environments.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rPr dirty="0"/>
              <a:t>• Logs and alerts → events and abnormal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E6231-3369-AA4F-09C7-83254DEBA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17" y="2990214"/>
            <a:ext cx="6737245" cy="32692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Monitoring Example — Find the Fault 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12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17F13B6-434C-274E-EF9E-4AA2FADA2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81" y="850392"/>
            <a:ext cx="10933554" cy="56601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Monitoring 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13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B1DFACE-8940-EEDC-8E30-6EF25B96D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2249"/>
            <a:ext cx="12192000" cy="41135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3.3 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7277" y="568195"/>
            <a:ext cx="12337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</a:defRPr>
            </a:pPr>
            <a:r>
              <a:rPr sz="1400" b="1" dirty="0">
                <a:solidFill>
                  <a:srgbClr val="FF0000"/>
                </a:solidFill>
              </a:rPr>
              <a:t>Why prepare?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85646"/>
            <a:ext cx="9811622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838"/>
                </a:solidFill>
              </a:defRPr>
            </a:pPr>
            <a:r>
              <a:rPr b="1" dirty="0"/>
              <a:t>• DR prepares the organization to restore important services after disruption.</a:t>
            </a:r>
          </a:p>
          <a:p>
            <a:pPr>
              <a:spcAft>
                <a:spcPts val="1000"/>
              </a:spcAft>
              <a:defRPr sz="2000">
                <a:solidFill>
                  <a:srgbClr val="1C2838"/>
                </a:solidFill>
              </a:defRPr>
            </a:pPr>
            <a:r>
              <a:rPr b="1" dirty="0"/>
              <a:t>• Start with business needs: acceptable data loss and recovery time.</a:t>
            </a:r>
          </a:p>
          <a:p>
            <a:pPr>
              <a:spcAft>
                <a:spcPts val="1000"/>
              </a:spcAft>
              <a:defRPr sz="2000">
                <a:solidFill>
                  <a:srgbClr val="1C2838"/>
                </a:solidFill>
              </a:defRPr>
            </a:pPr>
            <a:r>
              <a:rPr b="1" dirty="0"/>
              <a:t>• Recovery design includes metrics, sites and high-availability approaches.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DC516C-A45D-7E96-ECF3-AB8979C2A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47" y="2193043"/>
            <a:ext cx="10176097" cy="40281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DR Metrics — RPO • RTO • MTTR • MTBF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15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F0782FD-2335-D9D1-D8E4-C38439478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7956"/>
            <a:ext cx="12192000" cy="49420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DR Metrics — Easy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4008" cy="3474720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Online order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84832"/>
            <a:ext cx="47548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RPO = 15 minutes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→ Up to 15 minutes of data loss is acceptable.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512064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64008" cy="347472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6248" y="155448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Customer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084832"/>
            <a:ext cx="47548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RTO = 1 hour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→ Service should return within 1 hour.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DR Sites — Hot vs Warm vs Cold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64008" cy="35661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Hot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Ready quickly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Systems/data available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Higher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64008" cy="3566160"/>
          </a:xfrm>
          <a:prstGeom prst="rect">
            <a:avLst/>
          </a:prstGeom>
          <a:solidFill>
            <a:srgbClr val="E0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Warm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Partially ready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Some setup required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Medium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64008" cy="3566160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Cold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Space/basic infrastructure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More recovery work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Lower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16CA04-183D-0D09-424B-6A3C17EDE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8" y="176336"/>
            <a:ext cx="11707768" cy="668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97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665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rPr dirty="0"/>
              <a:t>High Availability — Reduce Downtime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768" y="627025"/>
            <a:ext cx="3547872" cy="749808"/>
          </a:xfrm>
          <a:prstGeom prst="roundRect">
            <a:avLst/>
          </a:prstGeom>
          <a:solidFill>
            <a:srgbClr val="2D6FB4"/>
          </a:solidFill>
          <a:ln>
            <a:solidFill>
              <a:srgbClr val="2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PRIMARY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42232" y="627025"/>
            <a:ext cx="3547872" cy="749808"/>
          </a:xfrm>
          <a:prstGeom prst="roundRect">
            <a:avLst/>
          </a:prstGeom>
          <a:solidFill>
            <a:srgbClr val="2D845B"/>
          </a:solidFill>
          <a:ln>
            <a:solidFill>
              <a:srgbClr val="2D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REDUNDANT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54696" y="627025"/>
            <a:ext cx="3547872" cy="749808"/>
          </a:xfrm>
          <a:prstGeom prst="roundRect">
            <a:avLst/>
          </a:prstGeom>
          <a:solidFill>
            <a:srgbClr val="6948A0"/>
          </a:solidFill>
          <a:ln>
            <a:solidFill>
              <a:srgbClr val="694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18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6F9881-9C52-D19D-2010-3ED7C20B2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083" y="1535952"/>
            <a:ext cx="8048169" cy="481545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3.4 IPv4 Network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D"/>
                </a:solidFill>
              </a:defRPr>
            </a:pPr>
            <a:r>
              <a:t>Dynamic addressing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3566160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DHCP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Automatically provides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IP • mask • gateway • DNS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356616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Faster deployment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Fewer manual errors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Centralized addressing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64008" cy="3566160"/>
          </a:xfrm>
          <a:prstGeom prst="rect">
            <a:avLst/>
          </a:prstGeom>
          <a:solidFill>
            <a:srgbClr val="E0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Check lease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Ping gateway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Confirm DNS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DHCP — Simple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103120"/>
            <a:ext cx="2062886" cy="749808"/>
          </a:xfrm>
          <a:prstGeom prst="roundRect">
            <a:avLst/>
          </a:prstGeom>
          <a:solidFill>
            <a:srgbClr val="2D6FB4"/>
          </a:solidFill>
          <a:ln>
            <a:solidFill>
              <a:srgbClr val="2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21838" y="2103120"/>
            <a:ext cx="2062886" cy="749808"/>
          </a:xfrm>
          <a:prstGeom prst="roundRect">
            <a:avLst/>
          </a:prstGeom>
          <a:solidFill>
            <a:srgbClr val="6948A0"/>
          </a:solidFill>
          <a:ln>
            <a:solidFill>
              <a:srgbClr val="694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DISCOVER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9316" y="2103120"/>
            <a:ext cx="2062886" cy="749808"/>
          </a:xfrm>
          <a:prstGeom prst="roundRect">
            <a:avLst/>
          </a:prstGeom>
          <a:solidFill>
            <a:srgbClr val="2D845B"/>
          </a:solidFill>
          <a:ln>
            <a:solidFill>
              <a:srgbClr val="2D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OFFER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76795" y="2103120"/>
            <a:ext cx="2062886" cy="749808"/>
          </a:xfrm>
          <a:prstGeom prst="roundRect">
            <a:avLst/>
          </a:prstGeom>
          <a:solidFill>
            <a:srgbClr val="E07E22"/>
          </a:solidFill>
          <a:ln>
            <a:solidFill>
              <a:srgbClr val="E0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4273" y="2103120"/>
            <a:ext cx="2062886" cy="749808"/>
          </a:xfrm>
          <a:prstGeom prst="roundRect">
            <a:avLst/>
          </a:prstGeom>
          <a:solidFill>
            <a:srgbClr val="2D6FB4"/>
          </a:solidFill>
          <a:ln>
            <a:solidFill>
              <a:srgbClr val="2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611880"/>
            <a:ext cx="82296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20240" y="3611880"/>
            <a:ext cx="64008" cy="137160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21408" y="379476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32511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A new laptop joins office Wi‑Fi and receives an IP automatically.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DE2D28-F644-59CD-8E48-3B805A5C4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1932"/>
            <a:ext cx="12192000" cy="525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53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595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rPr dirty="0"/>
              <a:t>DHCP Troubleshooting Clue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22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DB1877-356B-5289-A3DF-8C2EF0D68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" y="645807"/>
            <a:ext cx="10320090" cy="586472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7315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rPr dirty="0"/>
              <a:t>Name Resolution — DNS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23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FF9D7A1-7C16-5421-1818-83E92B003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78" y="667512"/>
            <a:ext cx="10090283" cy="56837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Time Services — Why Time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64008" cy="3566160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NTP /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Keeps systems aligned to a common time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64008" cy="356616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Accurate timestamps make logs easier to correlate.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64008" cy="3566160"/>
          </a:xfrm>
          <a:prstGeom prst="rect">
            <a:avLst/>
          </a:prstGeom>
          <a:solidFill>
            <a:srgbClr val="E0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Server A: 10:02</a:t>
            </a:r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Server B: 10:17</a:t>
            </a:r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Timeline becomes confusing.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3.5 Secure Management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0CEBA9B-0C4F-3203-2024-79F7EF477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46" y="748790"/>
            <a:ext cx="10117156" cy="53604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Operational Evidence — What to Record?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Topology and device inventory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IP addresses, VLANs, interfaces and gateways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Normal performance / baseline measurements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DHCP, DNS and time-service evidence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Monitoring alerts, logs and test results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Changes, approvals, verification and rollback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DR metrics and recovery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Scenario — Small Office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65960"/>
            <a:ext cx="2062886" cy="749808"/>
          </a:xfrm>
          <a:prstGeom prst="roundRect">
            <a:avLst/>
          </a:prstGeom>
          <a:solidFill>
            <a:srgbClr val="2D6FB4"/>
          </a:solidFill>
          <a:ln>
            <a:solidFill>
              <a:srgbClr val="2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21838" y="1965960"/>
            <a:ext cx="2062886" cy="749808"/>
          </a:xfrm>
          <a:prstGeom prst="roundRect">
            <a:avLst/>
          </a:prstGeom>
          <a:solidFill>
            <a:srgbClr val="2D845B"/>
          </a:solidFill>
          <a:ln>
            <a:solidFill>
              <a:srgbClr val="2D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SWITCH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9316" y="1965960"/>
            <a:ext cx="2062886" cy="749808"/>
          </a:xfrm>
          <a:prstGeom prst="roundRect">
            <a:avLst/>
          </a:prstGeom>
          <a:solidFill>
            <a:srgbClr val="2D6FB4"/>
          </a:solidFill>
          <a:ln>
            <a:solidFill>
              <a:srgbClr val="2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76795" y="1965960"/>
            <a:ext cx="2062886" cy="749808"/>
          </a:xfrm>
          <a:prstGeom prst="roundRect">
            <a:avLst/>
          </a:prstGeom>
          <a:solidFill>
            <a:srgbClr val="E07E22"/>
          </a:solidFill>
          <a:ln>
            <a:solidFill>
              <a:srgbClr val="E0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INTERNET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4273" y="1965960"/>
            <a:ext cx="2062886" cy="749808"/>
          </a:xfrm>
          <a:prstGeom prst="roundRect">
            <a:avLst/>
          </a:prstGeom>
          <a:solidFill>
            <a:srgbClr val="6948A0"/>
          </a:solidFill>
          <a:ln>
            <a:solidFill>
              <a:srgbClr val="694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CLOUD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838"/>
                </a:solidFill>
              </a:defRPr>
            </a:pPr>
            <a:r>
              <a:t>• Document topology and addressing.</a:t>
            </a:r>
          </a:p>
          <a:p>
            <a:pPr>
              <a:spcAft>
                <a:spcPts val="1000"/>
              </a:spcAft>
              <a:defRPr sz="1700">
                <a:solidFill>
                  <a:srgbClr val="1C2838"/>
                </a:solidFill>
              </a:defRPr>
            </a:pPr>
            <a:r>
              <a:t>• Establish normal gateway and cloud-app tests.</a:t>
            </a:r>
          </a:p>
          <a:p>
            <a:pPr>
              <a:spcAft>
                <a:spcPts val="1000"/>
              </a:spcAft>
              <a:defRPr sz="1700">
                <a:solidFill>
                  <a:srgbClr val="1C2838"/>
                </a:solidFill>
              </a:defRPr>
            </a:pPr>
            <a:r>
              <a:t>• Monitor reachability and latency.</a:t>
            </a:r>
          </a:p>
          <a:p>
            <a:pPr>
              <a:spcAft>
                <a:spcPts val="1000"/>
              </a:spcAft>
              <a:defRPr sz="1700">
                <a:solidFill>
                  <a:srgbClr val="1C2838"/>
                </a:solidFill>
              </a:defRPr>
            </a:pPr>
            <a:r>
              <a:t>• Use DHCP/DNS evidence when users report access problems.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Scenario — Change with Rollback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60604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64008" cy="3566160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5087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1.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39112"/>
            <a:ext cx="2240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Record current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25880"/>
            <a:ext cx="260604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0" y="1325880"/>
            <a:ext cx="64008" cy="3566160"/>
          </a:xfrm>
          <a:prstGeom prst="rect">
            <a:avLst/>
          </a:prstGeom>
          <a:solidFill>
            <a:srgbClr val="E0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5887" y="15087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2.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039112"/>
            <a:ext cx="2240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Apply approved config.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260604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64008" cy="356616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5087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3.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039112"/>
            <a:ext cx="2240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Check state + reachability.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25880"/>
            <a:ext cx="233172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0" y="1325880"/>
            <a:ext cx="64008" cy="35661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45168" y="150876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4. Rollback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2039112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If verification fails.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5396AF-3AD1-74B5-E4F5-A570B76CB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48" y="0"/>
            <a:ext cx="115911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739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Scenario — Monitoring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64008" cy="356616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Ping succeeds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Low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64008" cy="3566160"/>
          </a:xfrm>
          <a:prstGeom prst="rect">
            <a:avLst/>
          </a:prstGeom>
          <a:solidFill>
            <a:srgbClr val="E0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Remote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Ping slow</a:t>
            </a:r>
          </a:p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Traceroute shows delay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64008" cy="3566160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Investigate WAN path / congestion before changing 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Scenario — DHCP + DNS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64008" cy="35661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No normal DHCP 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64008" cy="3566160"/>
          </a:xfrm>
          <a:prstGeom prst="rect">
            <a:avLst/>
          </a:prstGeom>
          <a:solidFill>
            <a:srgbClr val="E0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DHCP enabled?</a:t>
            </a:r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Pool exhausted?</a:t>
            </a:r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Connectivity?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64008" cy="356616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After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0391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Confirm IP + mask + gateway + DNS.</a:t>
            </a:r>
          </a:p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Test hostname.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1. What is a network baseline?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2. Change management vs configuration management?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3. What does ping tell you?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4. What does traceroute reveal?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5. What does RPO measure?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6. What does RTO measure?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7. Hot vs warm vs cold site?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8. What does DHCP provide?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9. What does DNS provide?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10. Why is out-of-band management useful?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Day 3 Lab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01 Documentation &amp; Network Baseline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02 Change &amp; Configuration Management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03 Network Monitoring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04 Monitoring Scenario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05 Disaster Recovery Metrics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06 DR Sites &amp; High Availability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07 IPv4 Network Services — DHCP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08 IPv6 + DNS + Time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09 VPN &amp; Management Access</a:t>
            </a:r>
          </a:p>
          <a:p>
            <a:pPr>
              <a:spcAft>
                <a:spcPts val="1000"/>
              </a:spcAft>
              <a:defRPr sz="1500">
                <a:solidFill>
                  <a:srgbClr val="1C2838"/>
                </a:solidFill>
              </a:defRPr>
            </a:pPr>
            <a:r>
              <a:t>• 10 Integrated Network Operations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Lab Environment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Cisco Packet Tracer → routing, DHCP and operational simulations.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Windows/Linux VM → ping, tracert/traceroute, nslookup/dig, netstat/ss.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Wireshark → only authorized captures.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Never make changes to production.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Before every change: record current state, expected result and rollback.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Integrated Challenge — Network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1426464" cy="749808"/>
          </a:xfrm>
          <a:prstGeom prst="roundRect">
            <a:avLst/>
          </a:prstGeom>
          <a:solidFill>
            <a:srgbClr val="2D6FB4"/>
          </a:solidFill>
          <a:ln>
            <a:solidFill>
              <a:srgbClr val="2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DOCUMENT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85416" y="1920240"/>
            <a:ext cx="1426464" cy="749808"/>
          </a:xfrm>
          <a:prstGeom prst="roundRect">
            <a:avLst/>
          </a:prstGeom>
          <a:solidFill>
            <a:srgbClr val="2D845B"/>
          </a:solidFill>
          <a:ln>
            <a:solidFill>
              <a:srgbClr val="2D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76472" y="1920240"/>
            <a:ext cx="1426464" cy="749808"/>
          </a:xfrm>
          <a:prstGeom prst="roundRect">
            <a:avLst/>
          </a:prstGeom>
          <a:solidFill>
            <a:srgbClr val="6948A0"/>
          </a:solidFill>
          <a:ln>
            <a:solidFill>
              <a:srgbClr val="694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67528" y="1920240"/>
            <a:ext cx="1426464" cy="749808"/>
          </a:xfrm>
          <a:prstGeom prst="roundRect">
            <a:avLst/>
          </a:prstGeom>
          <a:solidFill>
            <a:srgbClr val="E07E22"/>
          </a:solidFill>
          <a:ln>
            <a:solidFill>
              <a:srgbClr val="E0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58584" y="1920240"/>
            <a:ext cx="1426464" cy="749808"/>
          </a:xfrm>
          <a:prstGeom prst="roundRect">
            <a:avLst/>
          </a:prstGeom>
          <a:solidFill>
            <a:srgbClr val="2D845B"/>
          </a:solidFill>
          <a:ln>
            <a:solidFill>
              <a:srgbClr val="2D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VERIFY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920240"/>
            <a:ext cx="1426464" cy="749808"/>
          </a:xfrm>
          <a:prstGeom prst="round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DR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0696" y="1920240"/>
            <a:ext cx="1426464" cy="749808"/>
          </a:xfrm>
          <a:prstGeom prst="roundRect">
            <a:avLst/>
          </a:prstGeom>
          <a:solidFill>
            <a:srgbClr val="2D6FB4"/>
          </a:solidFill>
          <a:ln>
            <a:solidFill>
              <a:srgbClr val="2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MANAGE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520440"/>
            <a:ext cx="960120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80160" y="3520440"/>
            <a:ext cx="64008" cy="150876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81328" y="3703320"/>
            <a:ext cx="9235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Final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4233672"/>
            <a:ext cx="92354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838"/>
                </a:solidFill>
              </a:defRPr>
            </a:pPr>
            <a:r>
              <a:t>Collect evidence → make an approved change → verify service → document the result.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Day 3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Documentation makes the network understandable.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Baselines make 'normal' measurable.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Change/configuration management reduce uncontrolled change.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Monitoring provides evidence instead of guesses.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RPO/RTO/MTTR/MTBF describe recovery and reliability needs.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DHCP, DNS and time are operational building blocks.</a:t>
            </a:r>
          </a:p>
          <a:p>
            <a:pPr>
              <a:spcAft>
                <a:spcPts val="1000"/>
              </a:spcAft>
              <a:defRPr sz="1800">
                <a:solidFill>
                  <a:srgbClr val="1C2838"/>
                </a:solidFill>
              </a:defRPr>
            </a:pPr>
            <a:r>
              <a:t>• VPNs, jump hosts and out-of-band access provide controlled management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2"/>
                </a:solidFill>
              </a:defRPr>
            </a:pPr>
            <a:r>
              <a:t>Bridge to Day 4 — Network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17320"/>
            <a:ext cx="301752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64008" cy="3383280"/>
          </a:xfrm>
          <a:prstGeom prst="rect">
            <a:avLst/>
          </a:prstGeom>
          <a:solidFill>
            <a:srgbClr val="2D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" y="160020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130552"/>
            <a:ext cx="2651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2838"/>
                </a:solidFill>
              </a:defRPr>
            </a:pPr>
            <a:r>
              <a:t>Operate</a:t>
            </a:r>
          </a:p>
          <a:p>
            <a:pPr>
              <a:spcAft>
                <a:spcPts val="700"/>
              </a:spcAft>
              <a:defRPr sz="1900">
                <a:solidFill>
                  <a:srgbClr val="1C2838"/>
                </a:solidFill>
              </a:defRPr>
            </a:pPr>
            <a:r>
              <a:t>Monitor</a:t>
            </a:r>
          </a:p>
          <a:p>
            <a:pPr>
              <a:spcAft>
                <a:spcPts val="700"/>
              </a:spcAft>
              <a:defRPr sz="1900">
                <a:solidFill>
                  <a:srgbClr val="1C2838"/>
                </a:solidFill>
              </a:defRPr>
            </a:pPr>
            <a:r>
              <a:t>Recover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417320"/>
            <a:ext cx="301752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1417320"/>
            <a:ext cx="64008" cy="338328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73168" y="160020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Day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130552"/>
            <a:ext cx="2651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2838"/>
                </a:solidFill>
              </a:defRPr>
            </a:pPr>
            <a:r>
              <a:t>Protect</a:t>
            </a:r>
          </a:p>
          <a:p>
            <a:pPr>
              <a:spcAft>
                <a:spcPts val="700"/>
              </a:spcAft>
              <a:defRPr sz="1900">
                <a:solidFill>
                  <a:srgbClr val="1C2838"/>
                </a:solidFill>
              </a:defRPr>
            </a:pPr>
            <a:r>
              <a:t>Segment</a:t>
            </a:r>
          </a:p>
          <a:p>
            <a:pPr>
              <a:spcAft>
                <a:spcPts val="700"/>
              </a:spcAft>
              <a:defRPr sz="1900">
                <a:solidFill>
                  <a:srgbClr val="1C2838"/>
                </a:solidFill>
              </a:defRPr>
            </a:pPr>
            <a:r>
              <a:t>Harden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01752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417320"/>
            <a:ext cx="64008" cy="3383280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0768" y="160020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252"/>
                </a:solidFill>
              </a:defRPr>
            </a:pPr>
            <a:r>
              <a:t>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130552"/>
            <a:ext cx="2651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838"/>
                </a:solidFill>
              </a:defRPr>
            </a:pPr>
            <a:r>
              <a:t>Good operations create evidence for secure networks and troubleshooting.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CompTIA Network+ • Day 3 • Network Operations •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3813</Words>
  <Application>Microsoft Office PowerPoint</Application>
  <PresentationFormat>Widescreen</PresentationFormat>
  <Paragraphs>474</Paragraphs>
  <Slides>38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Info Desk</cp:lastModifiedBy>
  <cp:revision>1</cp:revision>
  <dcterms:created xsi:type="dcterms:W3CDTF">2013-01-27T09:14:16Z</dcterms:created>
  <dcterms:modified xsi:type="dcterms:W3CDTF">2026-09-03T14:49:59Z</dcterms:modified>
  <cp:category/>
</cp:coreProperties>
</file>